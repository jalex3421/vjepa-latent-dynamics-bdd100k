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83" r:id="rId3"/>
    <p:sldId id="284" r:id="rId4"/>
    <p:sldId id="257" r:id="rId5"/>
    <p:sldId id="258" r:id="rId6"/>
    <p:sldId id="259" r:id="rId7"/>
    <p:sldId id="260" r:id="rId8"/>
    <p:sldId id="261" r:id="rId9"/>
    <p:sldId id="273" r:id="rId10"/>
    <p:sldId id="263" r:id="rId11"/>
    <p:sldId id="286" r:id="rId12"/>
    <p:sldId id="285" r:id="rId13"/>
    <p:sldId id="279" r:id="rId14"/>
    <p:sldId id="262" r:id="rId15"/>
    <p:sldId id="264" r:id="rId16"/>
    <p:sldId id="265" r:id="rId17"/>
    <p:sldId id="266" r:id="rId18"/>
    <p:sldId id="274" r:id="rId19"/>
    <p:sldId id="267" r:id="rId20"/>
    <p:sldId id="268" r:id="rId21"/>
    <p:sldId id="275" r:id="rId22"/>
    <p:sldId id="269" r:id="rId23"/>
    <p:sldId id="270" r:id="rId24"/>
    <p:sldId id="276" r:id="rId25"/>
    <p:sldId id="271" r:id="rId26"/>
    <p:sldId id="277" r:id="rId27"/>
    <p:sldId id="287" r:id="rId28"/>
    <p:sldId id="288" r:id="rId29"/>
    <p:sldId id="289" r:id="rId30"/>
    <p:sldId id="290" r:id="rId31"/>
    <p:sldId id="272" r:id="rId32"/>
    <p:sldId id="278" r:id="rId33"/>
    <p:sldId id="281" r:id="rId34"/>
    <p:sldId id="280" r:id="rId35"/>
    <p:sldId id="282" r:id="rId36"/>
    <p:sldId id="291" r:id="rId3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F9FE7-1957-4354-854B-D74039892E04}" v="611" dt="2026-10-08T11:59:21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3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1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08471&#8203;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nvision2.eecs.yorku.ca/PIE_dataset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https://www.youtube.com/embed/sbd2rMD0U0Q?feature=oembed" TargetMode="External"/><Relationship Id="rId1" Type="http://schemas.openxmlformats.org/officeDocument/2006/relationships/video" Target="https://www.youtube.com/embed/6Gq-i-lcwuA?feature=oembed" TargetMode="Externa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https://www.youtube.com/embed/gFT42Ar4HyU?feature=oembed" TargetMode="External"/><Relationship Id="rId1" Type="http://schemas.openxmlformats.org/officeDocument/2006/relationships/video" Target="https://www.youtube.com/embed/tQqpaOdAnZY?feature=oembed" TargetMode="Externa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QevWfCjIhYI?feature=oembed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https://www.youtube.com/embed/bPCBTRCcxZ0?feature=oembed" TargetMode="External"/><Relationship Id="rId1" Type="http://schemas.openxmlformats.org/officeDocument/2006/relationships/video" Target="https://www.youtube.com/embed/NzLV5MNmcWM?feature=oembed" TargetMode="Externa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3E9C5D-F934-318A-76C1-F82B3009BC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949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>
            <a:normAutofit/>
          </a:bodyPr>
          <a:lstStyle/>
          <a:p>
            <a:r>
              <a:rPr lang="es-ES" sz="6000"/>
              <a:t>V-JEPA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303288" y="3507850"/>
            <a:ext cx="4488812" cy="1150453"/>
          </a:xfr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r>
              <a:rPr lang="es-ES" b="1" dirty="0"/>
              <a:t>Self-</a:t>
            </a:r>
            <a:r>
              <a:rPr lang="es-ES" b="1" dirty="0" err="1"/>
              <a:t>driving</a:t>
            </a:r>
            <a:r>
              <a:rPr lang="es-ES" b="1" dirty="0"/>
              <a:t> video </a:t>
            </a:r>
            <a:r>
              <a:rPr lang="es-ES" b="1" dirty="0" err="1"/>
              <a:t>analysis</a:t>
            </a:r>
            <a:endParaRPr lang="es-ES" b="1" dirty="0"/>
          </a:p>
          <a:p>
            <a:endParaRPr lang="es-ES" b="1" dirty="0"/>
          </a:p>
          <a:p>
            <a:r>
              <a:rPr lang="es-ES" b="1" dirty="0"/>
              <a:t>Alejandro Meza Tudela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1F434-A17A-04C0-5477-D610C6C3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6F726C3-EAC4-9116-B397-3DB95A16D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A9E602D-F1F1-9F48-03E9-D71B1BF8D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A4A177-CB45-A0BB-4102-EC15FF053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Index</a:t>
            </a:r>
            <a:endParaRPr lang="es-E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CA7A134-0B35-F2F5-7C24-F706D0465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C15667-8452-D192-0E23-6C6BD25B5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911" y="1714827"/>
            <a:ext cx="11472421" cy="298853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V-JEPA Overview</a:t>
            </a:r>
            <a:endParaRPr lang="en-US" sz="1800" b="1" i="0" dirty="0">
              <a:latin typeface="Meiryo"/>
              <a:ea typeface="Meiryo"/>
            </a:endParaRPr>
          </a:p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r>
              <a:rPr lang="en-US" sz="1800" b="1" i="0" dirty="0">
                <a:latin typeface="Meiryo"/>
                <a:ea typeface="Meiryo"/>
              </a:rPr>
              <a:t>Current hypothesis</a:t>
            </a:r>
          </a:p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r>
              <a:rPr lang="en-US" sz="1800" b="1" i="0" dirty="0">
                <a:latin typeface="Meiryo"/>
                <a:ea typeface="Meiryo"/>
              </a:rPr>
              <a:t>Situation to evaluate</a:t>
            </a:r>
          </a:p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r>
              <a:rPr lang="en-US" sz="1800" b="1" i="0" dirty="0">
                <a:latin typeface="Meiryo"/>
                <a:ea typeface="Meiryo"/>
              </a:rPr>
              <a:t>Evaluation dataset – PIE dataset</a:t>
            </a:r>
          </a:p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r>
              <a:rPr lang="en-US" sz="1800" b="1" i="0" dirty="0">
                <a:latin typeface="Meiryo"/>
                <a:ea typeface="Meiryo"/>
              </a:rPr>
              <a:t>Results</a:t>
            </a:r>
          </a:p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r>
              <a:rPr lang="en-US" sz="1800" b="1" i="0" dirty="0">
                <a:latin typeface="Meiryo"/>
                <a:ea typeface="Meiryo"/>
              </a:rPr>
              <a:t>Conclusions</a:t>
            </a:r>
          </a:p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endParaRPr lang="en-US" sz="1500" i="0" dirty="0"/>
          </a:p>
        </p:txBody>
      </p:sp>
    </p:spTree>
    <p:extLst>
      <p:ext uri="{BB962C8B-B14F-4D97-AF65-F5344CB8AC3E}">
        <p14:creationId xmlns:p14="http://schemas.microsoft.com/office/powerpoint/2010/main" val="95349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CF0EB-0AE9-FCCA-C130-1925A8D5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E7F0E3-B285-92DC-95DB-DEADCBE58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10ACA83-435F-D9EC-6232-A3ADF5DC5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A194BD-A35B-16A6-3777-5AE0B8A2E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>
                <a:latin typeface="+mj-lt"/>
                <a:ea typeface="+mj-ea"/>
                <a:cs typeface="+mj-cs"/>
              </a:rPr>
              <a:t>V-JEPA  Overview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29A1AE-A592-DCD7-347C-32C38E702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95D7CF62-D5FB-4957-C269-A7F86985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995" y="1719942"/>
            <a:ext cx="7947011" cy="49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2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31FDF6-5A49-C634-798C-1D28DDE4E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latin typeface="+mj-lt"/>
                <a:ea typeface="+mj-ea"/>
                <a:cs typeface="+mj-cs"/>
              </a:rPr>
              <a:t>Architecture</a:t>
            </a:r>
            <a:endParaRPr lang="en-US" sz="4000" b="1" kern="1200" dirty="0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50B829-E22D-BD90-B4E2-0818891C5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29" y="2205445"/>
            <a:ext cx="5503844" cy="407284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6ECD6517-0652-599A-2F83-D50B02931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0740" y="1709302"/>
            <a:ext cx="5474250" cy="490673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i="0" dirty="0">
                <a:latin typeface="Meiryo"/>
                <a:ea typeface="Meiryo"/>
              </a:rPr>
              <a:t>V-JEPA moves away from the traditional Generative (Pixel-level) reconstruction and Invariance-based (Contrastive) learning.</a:t>
            </a:r>
            <a:endParaRPr lang="en-US" sz="1400">
              <a:latin typeface="Meiryo"/>
              <a:ea typeface="Meiryo"/>
            </a:endParaRPr>
          </a:p>
          <a:p>
            <a:pPr>
              <a:lnSpc>
                <a:spcPct val="100000"/>
              </a:lnSpc>
            </a:pPr>
            <a:r>
              <a:rPr lang="en-US" sz="1400" i="0" dirty="0">
                <a:latin typeface="Meiryo"/>
                <a:ea typeface="Meiryo"/>
              </a:rPr>
              <a:t>The core components are the following:</a:t>
            </a: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latin typeface="Meiryo"/>
                <a:ea typeface="Meiryo"/>
              </a:rPr>
              <a:t>Context Encoder ( Eθ )</a:t>
            </a:r>
            <a:r>
              <a:rPr lang="en-US" sz="1400" i="0" dirty="0">
                <a:latin typeface="Meiryo"/>
                <a:ea typeface="Meiryo"/>
              </a:rPr>
              <a:t>: A Vision Transformer (ViT) that processes the visible "context" patches of a video (x).</a:t>
            </a:r>
            <a:endParaRPr lang="en-US" sz="1400">
              <a:latin typeface="Meiryo"/>
              <a:ea typeface="Meiryo"/>
            </a:endParaRP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latin typeface="Meiryo"/>
                <a:ea typeface="Meiryo"/>
              </a:rPr>
              <a:t>Target Encoder ( Eθ′ )</a:t>
            </a:r>
            <a:r>
              <a:rPr lang="en-US" sz="1400" i="0" dirty="0">
                <a:latin typeface="Meiryo"/>
                <a:ea typeface="Meiryo"/>
              </a:rPr>
              <a:t>: A momentum-updated version of the context encoder. It produces the "ground truth" embeddings for the masked regions ( y ). Crucially, these weights are not updated via gradients but via an Exponential Moving Average (EMA) of the Context Encoder.</a:t>
            </a:r>
            <a:endParaRPr lang="en-US" sz="1400">
              <a:latin typeface="Meiryo"/>
              <a:ea typeface="Meiryo"/>
            </a:endParaRP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latin typeface="Meiryo"/>
                <a:ea typeface="Meiryo"/>
              </a:rPr>
              <a:t>Predictor ( Pϕ ):</a:t>
            </a:r>
            <a:r>
              <a:rPr lang="en-US" sz="1400" i="0" dirty="0">
                <a:latin typeface="Meiryo"/>
                <a:ea typeface="Meiryo"/>
              </a:rPr>
              <a:t> A smaller Transformer that takes the context embeddings and a mask token ( z ) to predict the embeddings of the missing target regions.</a:t>
            </a:r>
            <a:endParaRPr lang="en-US" sz="1400"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01942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9B8B5-50D2-2AB7-5126-5D2D8E85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5DF4B2-94C3-7CA0-A5BC-FC7F529A4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Feature</a:t>
            </a:r>
            <a:r>
              <a:rPr lang="en-US" sz="4000" b="1" kern="1200" dirty="0">
                <a:latin typeface="+mj-lt"/>
                <a:ea typeface="+mj-ea"/>
                <a:cs typeface="+mj-cs"/>
              </a:rPr>
              <a:t> over pixels</a:t>
            </a:r>
            <a:endParaRPr lang="en-US" sz="4000" b="1" kern="1200" dirty="0">
              <a:latin typeface="+mj-lt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7FD3E2-6D9B-CFF6-4A5C-37AC4ACF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91" y="2299390"/>
            <a:ext cx="3661445" cy="4072844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C923ACB7-95B6-DAD5-0ED9-BC11EBAC1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898" y="1954297"/>
            <a:ext cx="5129784" cy="4416134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i="0" dirty="0">
                <a:latin typeface="Meiryo"/>
                <a:ea typeface="Meiryo"/>
              </a:rPr>
              <a:t>The fundamental breakthrough of V-JEPA is without doubt the Feature Prediction. Rather than trying to reconstruct every noisy pixel, V-JEPA predicts the latent representation of masked video blocks. For this, a sophisticated Multi-Block masking strategy is needed.</a:t>
            </a:r>
            <a:endParaRPr lang="es-ES">
              <a:latin typeface="Meiryo"/>
              <a:ea typeface="Meiryo"/>
            </a:endParaRP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Meiryo"/>
              <a:ea typeface="Meiryo"/>
            </a:endParaRPr>
          </a:p>
          <a:p>
            <a:pPr>
              <a:lnSpc>
                <a:spcPct val="100000"/>
              </a:lnSpc>
            </a:pPr>
            <a:r>
              <a:rPr lang="en-US" sz="1400" i="0" dirty="0">
                <a:latin typeface="Meiryo"/>
                <a:ea typeface="Meiryo"/>
              </a:rPr>
              <a:t>Regarding the masking strategy, the main components are the following:</a:t>
            </a:r>
            <a:endParaRPr lang="en-US" sz="1400">
              <a:latin typeface="Meiryo"/>
              <a:ea typeface="Meiryo"/>
            </a:endParaRP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i="0" dirty="0">
                <a:latin typeface="Meiryo"/>
                <a:ea typeface="Meiryo"/>
              </a:rPr>
              <a:t>Target ( y ): Spatially continuous blocks are sampled and repeated across the entire temporal dimension.</a:t>
            </a:r>
            <a:endParaRPr lang="en-US" sz="1400">
              <a:latin typeface="Meiryo"/>
              <a:ea typeface="Meiryo"/>
            </a:endParaRP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i="0" dirty="0">
                <a:latin typeface="Meiryo"/>
                <a:ea typeface="Meiryo"/>
              </a:rPr>
              <a:t>Context ( x ): The remaining part of the video.</a:t>
            </a:r>
            <a:endParaRPr lang="en-US" sz="1400">
              <a:latin typeface="Meiryo"/>
              <a:ea typeface="Meiryo"/>
            </a:endParaRP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i="0" dirty="0">
                <a:latin typeface="Meiryo"/>
                <a:ea typeface="Meiryo"/>
              </a:rPr>
              <a:t>Masking Ratios: V-JEPA employs an average masking ratio of ~90%.</a:t>
            </a:r>
            <a:endParaRPr lang="en-US" sz="1400">
              <a:latin typeface="Meiryo"/>
              <a:ea typeface="Meiryo"/>
            </a:endParaRP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latin typeface="Meiryo"/>
                <a:ea typeface="Meiryo"/>
              </a:rPr>
              <a:t>This forces the model to develop a deep semantic understanding</a:t>
            </a:r>
            <a:r>
              <a:rPr lang="en-US" sz="1400" i="0" dirty="0">
                <a:latin typeface="Meiryo"/>
                <a:ea typeface="Meiryo"/>
              </a:rPr>
              <a:t> of motion and object persistence to "fill in" the massive gaps across the frames.</a:t>
            </a:r>
            <a:endParaRPr lang="en-US" sz="1400"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96938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7A2BA-5027-9E4C-6E6F-DF1D4C5C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350ED80-74DD-A1C3-C719-217BC5347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68A07DD-FDAC-95C7-7CDF-5D898B2E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4FE742-DFF2-2254-B88B-0325EA64D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Network Parametrization &amp; Efficiency</a:t>
            </a:r>
            <a:endParaRPr lang="en-US" sz="4000" b="1" kern="1200" dirty="0">
              <a:latin typeface="+mj-lt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44DADA2-2B29-E2DF-4C6D-6425D848D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7CD1BC-C458-2441-C1AD-0C22A12A7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11" y="1897192"/>
            <a:ext cx="11142277" cy="40507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i="0" dirty="0">
                <a:latin typeface="Meiryo"/>
                <a:ea typeface="Meiryo"/>
                <a:cs typeface="+mn-lt"/>
              </a:rPr>
              <a:t>V-JEPA typically uses large-scale Vision Transformers (e.g., ViT-H/16 or ViT-L/16) using 3D Tubelets (e.g.,  2×16×16  tokens).</a:t>
            </a:r>
            <a:endParaRPr lang="es-ES" sz="1800">
              <a:latin typeface="Meiryo"/>
              <a:ea typeface="Meiryo"/>
            </a:endParaRPr>
          </a:p>
          <a:p>
            <a:endParaRPr lang="en-US" sz="1800" i="0" dirty="0">
              <a:latin typeface="Meiryo"/>
              <a:ea typeface="Meiryo"/>
              <a:cs typeface="+mn-lt"/>
            </a:endParaRPr>
          </a:p>
          <a:p>
            <a:r>
              <a:rPr lang="en-US" sz="1800" i="0" dirty="0">
                <a:latin typeface="Meiryo"/>
                <a:ea typeface="Meiryo"/>
                <a:cs typeface="+mn-lt"/>
              </a:rPr>
              <a:t>Other characteristics are the following:</a:t>
            </a:r>
            <a:endParaRPr lang="en-US" sz="1800">
              <a:latin typeface="Meiryo"/>
              <a:ea typeface="Meiryo"/>
              <a:cs typeface="+mn-lt"/>
            </a:endParaRPr>
          </a:p>
          <a:p>
            <a:pPr marL="285750" indent="-285750"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Training Speed</a:t>
            </a:r>
            <a:r>
              <a:rPr lang="en-US" sz="1800" i="0" dirty="0">
                <a:latin typeface="Meiryo"/>
                <a:ea typeface="Meiryo"/>
                <a:cs typeface="+mn-lt"/>
              </a:rPr>
              <a:t>: Significantly shorter schedules compared to pixel-reconstruction methods (like MAE).</a:t>
            </a:r>
            <a:endParaRPr lang="en-US" sz="1800">
              <a:latin typeface="Meiryo"/>
              <a:ea typeface="Meiryo"/>
            </a:endParaRPr>
          </a:p>
          <a:p>
            <a:pPr marL="285750" indent="-285750"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Label Efficiency</a:t>
            </a:r>
            <a:r>
              <a:rPr lang="en-US" sz="1800" i="0" dirty="0">
                <a:latin typeface="Meiryo"/>
                <a:ea typeface="Meiryo"/>
                <a:cs typeface="+mn-lt"/>
              </a:rPr>
              <a:t>: High performance even with limited labeled data. As labels decrease, the gap between V-JEPA and pixel-prediction models widens.</a:t>
            </a:r>
            <a:endParaRPr lang="en-US" sz="1800">
              <a:latin typeface="Meiryo"/>
              <a:ea typeface="Meiryo"/>
              <a:cs typeface="+mn-lt"/>
            </a:endParaRPr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Adaptability</a:t>
            </a:r>
            <a:r>
              <a:rPr lang="en-US" sz="1800" i="0" dirty="0">
                <a:latin typeface="Meiryo"/>
                <a:ea typeface="Meiryo"/>
                <a:cs typeface="+mn-lt"/>
              </a:rPr>
              <a:t>: Versatile visual representations that perform well across downstream tasks without adapting model weights (frozen backbone).</a:t>
            </a:r>
            <a:endParaRPr lang="en-US" sz="1800"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09403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9F129-D096-C655-C922-8734CC37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EFE28D4-8C65-BB5F-6BDB-CFF25340D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C0210DE-55C0-ED7B-5EBE-F42C60855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112FA9-BA06-6F8B-A748-1AC718E40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33584"/>
            <a:ext cx="11155680" cy="7681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Performance</a:t>
            </a:r>
            <a:endParaRPr lang="en-US" sz="4000" b="1" kern="1200" dirty="0">
              <a:latin typeface="+mj-lt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4C06DB1-16E6-0D75-160C-44E599D08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78CB04-2E3B-4232-EEA3-5CAD6C5DD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0" y="3426455"/>
            <a:ext cx="8695803" cy="2520734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51176B77-A536-5F8B-80B0-1D49929C60CA}"/>
              </a:ext>
            </a:extLst>
          </p:cNvPr>
          <p:cNvSpPr txBox="1">
            <a:spLocks/>
          </p:cNvSpPr>
          <p:nvPr/>
        </p:nvSpPr>
        <p:spPr>
          <a:xfrm>
            <a:off x="718327" y="6120551"/>
            <a:ext cx="11152715" cy="5539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0" dirty="0">
                <a:latin typeface="Meiryo"/>
                <a:ea typeface="Meiryo"/>
                <a:cs typeface="+mn-lt"/>
              </a:rPr>
              <a:t>More results on the original paper: </a:t>
            </a:r>
            <a:r>
              <a:rPr lang="en-US" sz="1600" i="0" dirty="0">
                <a:latin typeface="Meiryo"/>
                <a:ea typeface="Meiryo"/>
                <a:cs typeface="+mn-lt"/>
                <a:hlinkClick r:id="rId3"/>
              </a:rPr>
              <a:t>https://arxiv.org/abs/2404.08471</a:t>
            </a:r>
            <a:endParaRPr lang="es-ES" sz="1600">
              <a:latin typeface="Meiryo"/>
              <a:ea typeface="Meiryo"/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760A372-A93A-6F37-FCD4-28D8F656627A}"/>
              </a:ext>
            </a:extLst>
          </p:cNvPr>
          <p:cNvSpPr>
            <a:spLocks noGrp="1"/>
          </p:cNvSpPr>
          <p:nvPr/>
        </p:nvSpPr>
        <p:spPr>
          <a:xfrm>
            <a:off x="524173" y="1597243"/>
            <a:ext cx="11152715" cy="15873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har char="•"/>
            </a:pPr>
            <a:r>
              <a:rPr lang="en-US" sz="1600" b="1" i="0" dirty="0">
                <a:latin typeface="Meiryo"/>
                <a:ea typeface="Meiryo"/>
                <a:cs typeface="+mn-lt"/>
              </a:rPr>
              <a:t>Fine-Grained Temporal Understanding</a:t>
            </a:r>
            <a:r>
              <a:rPr lang="en-US" sz="1600" i="0" dirty="0">
                <a:latin typeface="Meiryo"/>
                <a:ea typeface="Meiryo"/>
                <a:cs typeface="+mn-lt"/>
              </a:rPr>
              <a:t>: V-JEPA outperformed State-of-the-Art models by +6% accuracy on SomethingSomething-v2, a task where motion direction and temporal sequence are vital.</a:t>
            </a:r>
            <a:endParaRPr lang="es-ES" sz="1600">
              <a:latin typeface="Meiryo"/>
              <a:ea typeface="Meiryo"/>
            </a:endParaRPr>
          </a:p>
          <a:p>
            <a:pPr marL="285750" indent="-285750">
              <a:buChar char="•"/>
            </a:pPr>
            <a:r>
              <a:rPr lang="en-US" sz="1600" b="1" i="0" dirty="0">
                <a:latin typeface="Meiryo"/>
                <a:ea typeface="Meiryo"/>
                <a:cs typeface="+mn-lt"/>
              </a:rPr>
              <a:t>Frozen Evaluation</a:t>
            </a:r>
            <a:r>
              <a:rPr lang="en-US" sz="1600" i="0" dirty="0">
                <a:latin typeface="Meiryo"/>
                <a:ea typeface="Meiryo"/>
                <a:cs typeface="+mn-lt"/>
              </a:rPr>
              <a:t>: Under "attentive probing" (keeping the backbone frozen), V-JEPA is superior to pixel-prediction models, suggesting it learns more high-level semantic features rather than low-level textures.</a:t>
            </a:r>
            <a:endParaRPr lang="en-US" sz="1600">
              <a:latin typeface="Meiryo"/>
              <a:ea typeface="Meiryo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414F9F-7EEB-4C15-BAE3-80F1C197EFD9}"/>
              </a:ext>
            </a:extLst>
          </p:cNvPr>
          <p:cNvSpPr/>
          <p:nvPr/>
        </p:nvSpPr>
        <p:spPr>
          <a:xfrm>
            <a:off x="1736113" y="3416223"/>
            <a:ext cx="8736571" cy="2506163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9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1603F-BCE6-E375-FBDA-8073CBEF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906B366-B399-9DB9-3485-E9557391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0D37D4-374A-B109-9D40-ED9B25067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2C5113-360E-4C77-7428-8B9046954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Use cases &amp; applications</a:t>
            </a:r>
            <a:endParaRPr lang="en-US" sz="4000" b="1" kern="1200" dirty="0">
              <a:latin typeface="+mj-lt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BD79BBE-E061-F102-F880-09E9EBA4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208C70-07FD-2E3A-5D59-8FEA70AB2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940" y="1943858"/>
            <a:ext cx="11153482" cy="25719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i="0" dirty="0">
                <a:latin typeface="Meiryo"/>
                <a:ea typeface="Meiryo"/>
                <a:cs typeface="+mn-lt"/>
              </a:rPr>
              <a:t>The architecture is well suited for the following tasks:</a:t>
            </a:r>
            <a:endParaRPr lang="es-ES">
              <a:latin typeface="Meiryo"/>
              <a:ea typeface="Meiryo"/>
            </a:endParaRPr>
          </a:p>
          <a:p>
            <a:pPr marL="285750" indent="-285750"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Action Recognition</a:t>
            </a:r>
            <a:r>
              <a:rPr lang="en-US" sz="1800" i="0" dirty="0">
                <a:latin typeface="Meiryo"/>
                <a:ea typeface="Meiryo"/>
                <a:cs typeface="+mn-lt"/>
              </a:rPr>
              <a:t>: Identifying complex actions in video.</a:t>
            </a:r>
            <a:endParaRPr lang="en-US">
              <a:latin typeface="Meiryo"/>
              <a:ea typeface="Meiryo"/>
            </a:endParaRPr>
          </a:p>
          <a:p>
            <a:pPr marL="285750" indent="-285750">
              <a:buChar char="•"/>
            </a:pPr>
            <a:r>
              <a:rPr lang="en-US" sz="1800" b="1" i="0" dirty="0" err="1">
                <a:latin typeface="Meiryo"/>
                <a:ea typeface="Meiryo"/>
                <a:cs typeface="+mn-lt"/>
              </a:rPr>
              <a:t>Spatio</a:t>
            </a:r>
            <a:r>
              <a:rPr lang="en-US" sz="1800" b="1" i="0" dirty="0">
                <a:latin typeface="Meiryo"/>
                <a:ea typeface="Meiryo"/>
                <a:cs typeface="+mn-lt"/>
              </a:rPr>
              <a:t>-Temporal Detection</a:t>
            </a:r>
            <a:r>
              <a:rPr lang="en-US" sz="1800" i="0" dirty="0">
                <a:latin typeface="Meiryo"/>
                <a:ea typeface="Meiryo"/>
                <a:cs typeface="+mn-lt"/>
              </a:rPr>
              <a:t>: Tracking what is happening and where is happening during time.</a:t>
            </a:r>
            <a:endParaRPr lang="en-US">
              <a:latin typeface="Meiryo"/>
              <a:ea typeface="Meiryo"/>
            </a:endParaRPr>
          </a:p>
          <a:p>
            <a:pPr marL="285750" indent="-285750"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Autonomous Systems</a:t>
            </a:r>
            <a:r>
              <a:rPr lang="en-US" sz="1800" i="0" dirty="0">
                <a:latin typeface="Meiryo"/>
                <a:ea typeface="Meiryo"/>
                <a:cs typeface="+mn-lt"/>
              </a:rPr>
              <a:t>: It is a key component to build World Models, that understand how objects move and interact.</a:t>
            </a:r>
            <a:endParaRPr lang="en-US">
              <a:latin typeface="Meiryo"/>
              <a:ea typeface="Meiryo"/>
            </a:endParaRPr>
          </a:p>
          <a:p>
            <a:pPr marL="285750" indent="-285750"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Low Resource Domains</a:t>
            </a:r>
            <a:r>
              <a:rPr lang="en-US" sz="1800" i="0" dirty="0">
                <a:latin typeface="Meiryo"/>
                <a:ea typeface="Meiryo"/>
                <a:cs typeface="+mn-lt"/>
              </a:rPr>
              <a:t>: Solving tasks where only a few labeled samples are available.</a:t>
            </a:r>
            <a:endParaRPr lang="en-US">
              <a:latin typeface="Meiryo"/>
              <a:ea typeface="Meiryo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4994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7B5D0-6DB8-70C6-5CA7-07DEDC35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78581AC-3A6C-554A-3D5F-C6F9863F0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71BC37E-420C-8A14-C879-63F0ABA87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38669D0-80A5-65B1-75EE-F424CBB24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74B6A37-FB2F-32FF-A5DE-C34D0E59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2377148"/>
            <a:ext cx="11166885" cy="1255059"/>
          </a:xfrm>
        </p:spPr>
        <p:txBody>
          <a:bodyPr/>
          <a:lstStyle/>
          <a:p>
            <a:r>
              <a:rPr lang="en-US" sz="3200" dirty="0">
                <a:latin typeface="Meiryo"/>
                <a:ea typeface="Meiryo"/>
              </a:rPr>
              <a:t>So, the question is, does V-JEPA understand what happens in autonomous vehicles videos?</a:t>
            </a:r>
            <a:endParaRPr lang="es-ES" sz="3200" b="0">
              <a:latin typeface="Meiryo"/>
              <a:ea typeface="Meiryo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337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AF2A0-D349-E741-B763-1CF95A07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9AC513E-0C93-9D69-20C7-A8E04357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68C60E1-FD26-C393-0CCD-E59EA9662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335150-CF35-9920-DFCD-3F6106BB6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654819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Current hypothesis</a:t>
            </a:r>
            <a:endParaRPr lang="en-US" sz="4400" b="1" kern="1200" dirty="0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B8C23E6-51FA-7A9B-B977-0BD595F73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45EA831-02C0-E81E-B5E0-BFCDACBBA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501" y="1714211"/>
            <a:ext cx="11143044" cy="222745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Hypothesis –semantic surprise and event horizon-</a:t>
            </a:r>
            <a:r>
              <a:rPr lang="en-US" sz="1800" i="0" dirty="0">
                <a:latin typeface="Meiryo"/>
                <a:ea typeface="Meiryo"/>
                <a:cs typeface="+mn-lt"/>
              </a:rPr>
              <a:t>: </a:t>
            </a:r>
            <a:r>
              <a:rPr lang="en-US" sz="1800" i="0" dirty="0">
                <a:solidFill>
                  <a:srgbClr val="1F1F1F"/>
                </a:solidFill>
                <a:highlight>
                  <a:srgbClr val="FAF9F9"/>
                </a:highlight>
                <a:latin typeface="Meiryo"/>
                <a:ea typeface="Meiryo"/>
                <a:cs typeface="+mn-lt"/>
              </a:rPr>
              <a:t>Abrupt driving context shifts in sequential latent space embeddings correlate directly with critical, real-world driving events (e.g., sudden braking, aggressive acceleration, or lane changes).</a:t>
            </a:r>
            <a:endParaRPr lang="en-US" sz="1800" i="0" dirty="0">
              <a:latin typeface="Meiryo"/>
              <a:ea typeface="Meiryo"/>
              <a:cs typeface="+mn-lt"/>
            </a:endParaRPr>
          </a:p>
          <a:p>
            <a:pPr marL="285750" indent="-285750">
              <a:buChar char="•"/>
            </a:pPr>
            <a:r>
              <a:rPr lang="en-US" sz="1800" b="1" i="0" dirty="0">
                <a:latin typeface="Meiryo"/>
                <a:ea typeface="Meiryo"/>
                <a:cs typeface="+mn-lt"/>
              </a:rPr>
              <a:t>Validation metric</a:t>
            </a:r>
            <a:r>
              <a:rPr lang="en-US" sz="1800" i="0" dirty="0">
                <a:latin typeface="Meiryo"/>
                <a:ea typeface="Meiryo"/>
                <a:cs typeface="+mn-lt"/>
              </a:rPr>
              <a:t>: A temporal distance metric that flags trajectory anomalies in the latent space and anticipates ground-truth driving context shifts </a:t>
            </a:r>
            <a:r>
              <a:rPr lang="en-US" sz="1800" b="1" i="0" dirty="0">
                <a:latin typeface="Meiryo"/>
                <a:ea typeface="Meiryo"/>
                <a:cs typeface="+mn-lt"/>
              </a:rPr>
              <a:t>prior</a:t>
            </a:r>
            <a:r>
              <a:rPr lang="en-US" sz="1800" i="0" dirty="0">
                <a:latin typeface="Meiryo"/>
                <a:ea typeface="Meiryo"/>
                <a:cs typeface="+mn-lt"/>
              </a:rPr>
              <a:t> to human annotation timestamps.</a:t>
            </a:r>
          </a:p>
        </p:txBody>
      </p:sp>
    </p:spTree>
    <p:extLst>
      <p:ext uri="{BB962C8B-B14F-4D97-AF65-F5344CB8AC3E}">
        <p14:creationId xmlns:p14="http://schemas.microsoft.com/office/powerpoint/2010/main" val="292451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73007-2B83-8487-735C-2E342320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7DE7D7-0375-9234-7A3E-B1B2390FE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2B5FC58-E644-CB2F-51C9-B7D310254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AD98BD2-21F8-C1BE-6963-1F4F25AF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EBC724DA-F92B-22AE-26AA-044011245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939" y="920896"/>
            <a:ext cx="11143044" cy="13401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i="0" dirty="0">
                <a:latin typeface="Meiryo"/>
                <a:ea typeface="Meiryo"/>
                <a:cs typeface="+mn-lt"/>
              </a:rPr>
              <a:t>Distance metrics that have been used are as follows:</a:t>
            </a:r>
          </a:p>
          <a:p>
            <a:pPr marL="285750" indent="-285750">
              <a:buChar char="•"/>
            </a:pPr>
            <a:r>
              <a:rPr lang="en-US" sz="1800" b="1" i="0" dirty="0">
                <a:ea typeface="+mn-lt"/>
                <a:cs typeface="+mn-lt"/>
              </a:rPr>
              <a:t>Cosine Distance:</a:t>
            </a:r>
            <a:r>
              <a:rPr lang="en-US" sz="1800" i="0" dirty="0">
                <a:ea typeface="+mn-lt"/>
                <a:cs typeface="+mn-lt"/>
              </a:rPr>
              <a:t> Measures angular/orientation shifts between sequential embedding vectors </a:t>
            </a:r>
          </a:p>
          <a:p>
            <a:pPr marL="285750" indent="-285750">
              <a:buChar char="•"/>
            </a:pPr>
            <a:r>
              <a:rPr lang="en-US" sz="1800" b="1" i="0" dirty="0">
                <a:ea typeface="+mn-lt"/>
                <a:cs typeface="+mn-lt"/>
              </a:rPr>
              <a:t>Euclidean Distance:</a:t>
            </a:r>
            <a:r>
              <a:rPr lang="en-US" sz="1800" i="0" dirty="0">
                <a:ea typeface="+mn-lt"/>
                <a:cs typeface="+mn-lt"/>
              </a:rPr>
              <a:t> Measures magnitude shifts in high-dimensional feature space </a:t>
            </a:r>
            <a:endParaRPr lang="en-US" sz="1800" i="0" dirty="0">
              <a:latin typeface="Bierstadt"/>
              <a:ea typeface="Meiryo"/>
              <a:cs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08508E-7DBD-A18A-259D-5A660748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33" y="2432398"/>
            <a:ext cx="7413973" cy="412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45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187D2-2D7D-5060-E8B4-BC764AF1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53213D5-7F5C-F900-B9CC-86A2188F4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574B79B-6B18-360A-897F-6CB22414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6D5B08E-CB2A-0CBD-E091-39B18326C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FCA3750E-A707-7898-9A23-B1527F4A3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046" y="1031290"/>
            <a:ext cx="11143044" cy="112099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1800" b="1" i="0" dirty="0">
                <a:solidFill>
                  <a:srgbClr val="1F1F1F"/>
                </a:solidFill>
                <a:highlight>
                  <a:srgbClr val="FAF9F9"/>
                </a:highlight>
                <a:latin typeface="Meiryo"/>
                <a:ea typeface="Meiryo"/>
                <a:cs typeface="+mn-lt"/>
              </a:rPr>
              <a:t>Example of current results</a:t>
            </a:r>
          </a:p>
          <a:p>
            <a:pPr marL="285750" indent="-285750">
              <a:buChar char="•"/>
            </a:pPr>
            <a:r>
              <a:rPr lang="en-US" sz="1800" i="0" dirty="0">
                <a:solidFill>
                  <a:srgbClr val="1F1F1F"/>
                </a:solidFill>
                <a:highlight>
                  <a:srgbClr val="FAF9F9"/>
                </a:highlight>
                <a:latin typeface="Meiryo"/>
                <a:ea typeface="Meiryo"/>
                <a:cs typeface="+mn-lt"/>
              </a:rPr>
              <a:t>To visually evaluate this hypothesis, temporal trajectory graphs were generated by measuring frame-to-frame distances in continuous V-JEPA embeddings for each target driving video</a:t>
            </a:r>
            <a:endParaRPr lang="en-US">
              <a:latin typeface="Meiryo"/>
              <a:ea typeface="Meiryo"/>
              <a:cs typeface="+mn-lt"/>
            </a:endParaRPr>
          </a:p>
        </p:txBody>
      </p:sp>
      <p:pic>
        <p:nvPicPr>
          <p:cNvPr id="6" name="Imagen 5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41172D43-2DDC-6745-5C65-5AC2C753EC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398" r="49336" b="-212"/>
          <a:stretch>
            <a:fillRect/>
          </a:stretch>
        </p:blipFill>
        <p:spPr>
          <a:xfrm>
            <a:off x="2600881" y="2713479"/>
            <a:ext cx="6303927" cy="2714218"/>
          </a:xfrm>
          <a:prstGeom prst="rect">
            <a:avLst/>
          </a:prstGeom>
        </p:spPr>
      </p:pic>
      <p:sp>
        <p:nvSpPr>
          <p:cNvPr id="5" name="Subtítulo 3">
            <a:extLst>
              <a:ext uri="{FF2B5EF4-FFF2-40B4-BE49-F238E27FC236}">
                <a16:creationId xmlns:a16="http://schemas.microsoft.com/office/drawing/2014/main" id="{420E487B-08EF-FDCC-7744-261DD93AB246}"/>
              </a:ext>
            </a:extLst>
          </p:cNvPr>
          <p:cNvSpPr txBox="1">
            <a:spLocks/>
          </p:cNvSpPr>
          <p:nvPr/>
        </p:nvSpPr>
        <p:spPr>
          <a:xfrm>
            <a:off x="1899839" y="5615578"/>
            <a:ext cx="7703251" cy="4437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Meiryo"/>
                <a:ea typeface="Meiryo"/>
                <a:cs typeface="+mn-lt"/>
              </a:rPr>
              <a:t>X- axis = time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frame</a:t>
            </a:r>
            <a:r>
              <a:rPr lang="es-ES" sz="1600" b="1" dirty="0">
                <a:latin typeface="Meiryo"/>
                <a:ea typeface="Meiryo"/>
                <a:cs typeface="+mn-lt"/>
              </a:rPr>
              <a:t> / Y-axis =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frame-to-frame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distance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values</a:t>
            </a:r>
            <a:endParaRPr lang="es-ES" b="1"/>
          </a:p>
        </p:txBody>
      </p:sp>
    </p:spTree>
    <p:extLst>
      <p:ext uri="{BB962C8B-B14F-4D97-AF65-F5344CB8AC3E}">
        <p14:creationId xmlns:p14="http://schemas.microsoft.com/office/powerpoint/2010/main" val="1345773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F8331-068E-6841-AD85-D99B2AE0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CA42B04-2DBE-08F6-1D9D-36E5803FD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BA5B80E-A5D7-A8D1-5794-F186EECA1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685DD2-02A5-EB06-F456-89C70AA0D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Situations to evaluate</a:t>
            </a:r>
            <a:endParaRPr lang="en-US" sz="4400" b="1" kern="1200" dirty="0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B98E2B9-5C72-24C2-86C1-A66D096BF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A4A09B-A77B-D7AD-FEFC-A6977715B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911" y="1871403"/>
            <a:ext cx="11472421" cy="2612754"/>
          </a:xfr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100000"/>
              </a:lnSpc>
            </a:pPr>
            <a:r>
              <a:rPr lang="en-US" sz="1800" i="0" dirty="0">
                <a:latin typeface="Meiryo"/>
                <a:ea typeface="Meiryo"/>
              </a:rPr>
              <a:t>The following situations will be evaluated:</a:t>
            </a:r>
          </a:p>
          <a:p>
            <a:pPr marL="57150">
              <a:lnSpc>
                <a:spcPct val="100000"/>
              </a:lnSpc>
            </a:pPr>
            <a:r>
              <a:rPr lang="en-US" sz="1800" b="1" i="0" dirty="0">
                <a:latin typeface="Meiryo"/>
                <a:ea typeface="Meiryo"/>
                <a:cs typeface="+mn-lt"/>
              </a:rPr>
              <a:t>①　Transition from stopped to accelerating </a:t>
            </a:r>
          </a:p>
          <a:p>
            <a:pPr marL="57150">
              <a:lnSpc>
                <a:spcPct val="100000"/>
              </a:lnSpc>
            </a:pPr>
            <a:r>
              <a:rPr lang="en-US" sz="1800" b="1" i="0" dirty="0">
                <a:latin typeface="Meiryo"/>
                <a:ea typeface="Meiryo"/>
                <a:cs typeface="+mn-lt"/>
              </a:rPr>
              <a:t>②　Transition from constant velocity to stopped</a:t>
            </a:r>
            <a:endParaRPr lang="en-US" sz="1800" b="1" i="0" dirty="0">
              <a:latin typeface="Meiryo"/>
              <a:ea typeface="Meiryo"/>
            </a:endParaRPr>
          </a:p>
          <a:p>
            <a:pPr marL="57150">
              <a:lnSpc>
                <a:spcPct val="100000"/>
              </a:lnSpc>
            </a:pPr>
            <a:r>
              <a:rPr lang="en-US" sz="1800" b="1" i="0" dirty="0">
                <a:latin typeface="Meiryo"/>
                <a:ea typeface="Meiryo"/>
              </a:rPr>
              <a:t>③　Green light detection</a:t>
            </a:r>
          </a:p>
          <a:p>
            <a:pPr marL="57150">
              <a:lnSpc>
                <a:spcPct val="100000"/>
              </a:lnSpc>
            </a:pPr>
            <a:r>
              <a:rPr lang="en-US" sz="1800" b="1" i="0" dirty="0">
                <a:latin typeface="Meiryo"/>
                <a:ea typeface="Meiryo"/>
              </a:rPr>
              <a:t>④　Unexpected pedestrian appearance</a:t>
            </a:r>
          </a:p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endParaRPr lang="en-US" sz="1500" i="0" dirty="0"/>
          </a:p>
        </p:txBody>
      </p:sp>
    </p:spTree>
    <p:extLst>
      <p:ext uri="{BB962C8B-B14F-4D97-AF65-F5344CB8AC3E}">
        <p14:creationId xmlns:p14="http://schemas.microsoft.com/office/powerpoint/2010/main" val="2980248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44840A-946B-769D-63C7-0DB64E2C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99DDDF-D9D3-C23A-7800-1B434B2B1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Evaluation dataset – PIE dataset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78FE19-D3D0-D0D0-BB40-CE213F3AC4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20" r="32491" b="1"/>
          <a:stretch>
            <a:fillRect/>
          </a:stretch>
        </p:blipFill>
        <p:spPr>
          <a:xfrm>
            <a:off x="632688" y="1892294"/>
            <a:ext cx="5578133" cy="4048568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83095AEE-5D57-4F60-6A9A-A6815631B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0528" y="1897192"/>
            <a:ext cx="5157216" cy="4050792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1500" i="0" dirty="0">
                <a:latin typeface="Meiryo"/>
                <a:ea typeface="Meiryo"/>
              </a:rPr>
              <a:t>To the test the idea, the PIE dataset has been used. Some of the characteristics of this dataset are the following:</a:t>
            </a:r>
            <a:endParaRPr lang="es-ES">
              <a:latin typeface="Meiryo"/>
              <a:ea typeface="Meiryo"/>
            </a:endParaRP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i="0" dirty="0">
                <a:latin typeface="Meiryo"/>
                <a:ea typeface="Meiryo"/>
              </a:rPr>
              <a:t>Footage &amp; Duration:</a:t>
            </a:r>
            <a:r>
              <a:rPr lang="en-US" sz="1500" i="0" dirty="0">
                <a:latin typeface="Meiryo"/>
                <a:ea typeface="Meiryo"/>
              </a:rPr>
              <a:t> Over 6 hours of typical traffic scenes recorded via an on-board camera.</a:t>
            </a: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i="0" dirty="0">
                <a:latin typeface="Meiryo"/>
                <a:ea typeface="Meiryo"/>
              </a:rPr>
              <a:t>Scale:</a:t>
            </a:r>
            <a:r>
              <a:rPr lang="en-US" sz="1500" i="0" dirty="0">
                <a:latin typeface="Meiryo"/>
                <a:ea typeface="Meiryo"/>
              </a:rPr>
              <a:t> More than 300K labeled video frames and 1,842 pedestrian samples.</a:t>
            </a: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i="0" dirty="0">
                <a:latin typeface="Meiryo"/>
                <a:ea typeface="Meiryo"/>
              </a:rPr>
              <a:t>Vehicle Telemetry:</a:t>
            </a:r>
            <a:r>
              <a:rPr lang="en-US" sz="1500" i="0" dirty="0">
                <a:latin typeface="Meiryo"/>
                <a:ea typeface="Meiryo"/>
              </a:rPr>
              <a:t> Accurate OBD sensor data (speed, heading direction, GPS) synchronized with the video footage.</a:t>
            </a: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i="0" dirty="0">
                <a:latin typeface="Meiryo"/>
                <a:ea typeface="Meiryo"/>
              </a:rPr>
              <a:t>Rich Annotations:</a:t>
            </a:r>
            <a:r>
              <a:rPr lang="en-US" sz="1500" i="0" dirty="0">
                <a:latin typeface="Meiryo"/>
                <a:ea typeface="Meiryo"/>
              </a:rPr>
              <a:t> Spatial and behavioral data for pedestrians, interacting vehicles, and infrastructure elements (traffic lights, signs, zebra crossings).</a:t>
            </a:r>
          </a:p>
          <a:p>
            <a:pPr marL="28575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500" i="0" dirty="0"/>
          </a:p>
          <a:p>
            <a:pPr marL="57150">
              <a:lnSpc>
                <a:spcPct val="100000"/>
              </a:lnSpc>
            </a:pPr>
            <a:r>
              <a:rPr lang="en-US" sz="1500" b="1" i="0" dirty="0">
                <a:latin typeface="Meiryo"/>
                <a:ea typeface="Meiryo"/>
              </a:rPr>
              <a:t>LINK</a:t>
            </a:r>
            <a:r>
              <a:rPr lang="en-US" sz="1500" i="0" dirty="0">
                <a:latin typeface="Meiryo"/>
                <a:ea typeface="Meiryo"/>
              </a:rPr>
              <a:t>: </a:t>
            </a:r>
            <a:r>
              <a:rPr lang="en-US" sz="1500" i="0" u="sng" dirty="0">
                <a:latin typeface="Meiryo"/>
                <a:ea typeface="Meiryo"/>
                <a:cs typeface="+mn-lt"/>
                <a:hlinkClick r:id="rId3"/>
              </a:rPr>
              <a:t>https://data.nvision2.eecs.yorku.ca/PIE_dataset/</a:t>
            </a:r>
            <a:endParaRPr lang="en-US" sz="1500" i="0" u="sng"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2956531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981F6-8A0D-1F4B-A11A-2F7B8EEF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E60006F-8D63-F571-25B1-87D571944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AB0382D-C67E-09BF-A63F-838E1CDA3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072757-D9FE-ADC9-BDD3-B5F9C3C43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55143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/>
              <a:t>Video 01- results</a:t>
            </a:r>
            <a:endParaRPr lang="en-US" sz="4400" b="1" kern="1200" dirty="0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7ECE585-6649-EE8D-456A-C9E1BB707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4E58FECD-1E78-DD74-0C7C-A6E4F5D84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1333395"/>
            <a:ext cx="11367880" cy="762293"/>
          </a:xfrm>
        </p:spPr>
        <p:txBody>
          <a:bodyPr>
            <a:normAutofit/>
          </a:bodyPr>
          <a:lstStyle/>
          <a:p>
            <a:pPr marL="285750" indent="-228600">
              <a:lnSpc>
                <a:spcPct val="100000"/>
              </a:lnSpc>
              <a:buFont typeface="Arial,Sans-Serif" panose="020B0604020202020204" pitchFamily="34" charset="0"/>
              <a:buChar char="•"/>
            </a:pPr>
            <a:r>
              <a:rPr lang="es-ES" sz="1600" b="1" i="0" dirty="0">
                <a:latin typeface="Meiryo"/>
                <a:ea typeface="Meiryo"/>
              </a:rPr>
              <a:t>Situation</a:t>
            </a:r>
            <a:r>
              <a:rPr lang="es-ES" sz="1600" i="0" dirty="0">
                <a:latin typeface="Meiryo"/>
                <a:ea typeface="Meiryo"/>
              </a:rPr>
              <a:t>: </a:t>
            </a:r>
            <a:r>
              <a:rPr lang="en-US" sz="1600" b="1" i="0" dirty="0">
                <a:latin typeface="Meiryo"/>
                <a:ea typeface="Meiryo"/>
              </a:rPr>
              <a:t>Transition from stopped to accelerating </a:t>
            </a:r>
            <a:r>
              <a:rPr lang="es-ES" sz="1600" i="0" dirty="0">
                <a:latin typeface="Meiryo"/>
                <a:ea typeface="Meiryo"/>
              </a:rPr>
              <a:t> /  </a:t>
            </a:r>
            <a:r>
              <a:rPr lang="en-US" sz="1600" b="1" i="0" dirty="0">
                <a:latin typeface="Meiryo"/>
                <a:ea typeface="Meiryo"/>
              </a:rPr>
              <a:t>Transition from constant velocity to stopped</a:t>
            </a:r>
            <a:endParaRPr lang="en-US" sz="1600" i="0">
              <a:latin typeface="Meiryo"/>
              <a:ea typeface="Meiryo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4B9F756-6D91-9EB2-182B-2CD356CAE5A2}"/>
              </a:ext>
            </a:extLst>
          </p:cNvPr>
          <p:cNvSpPr txBox="1"/>
          <p:nvPr/>
        </p:nvSpPr>
        <p:spPr>
          <a:xfrm>
            <a:off x="3006247" y="5951705"/>
            <a:ext cx="13895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Cosine</a:t>
            </a:r>
            <a:endParaRPr lang="es-ES" dirty="0"/>
          </a:p>
          <a:p>
            <a:pPr algn="ctr"/>
            <a:endParaRPr lang="es-ES" dirty="0"/>
          </a:p>
        </p:txBody>
      </p:sp>
      <p:pic>
        <p:nvPicPr>
          <p:cNvPr id="9" name="Elementos multimedia en línea 8" title="acelaration braking cosine">
            <a:hlinkClick r:id="" action="ppaction://noaction"/>
            <a:extLst>
              <a:ext uri="{FF2B5EF4-FFF2-40B4-BE49-F238E27FC236}">
                <a16:creationId xmlns:a16="http://schemas.microsoft.com/office/drawing/2014/main" id="{95D941F6-34D1-907E-B9F2-D38A76F46D6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47512" y="2355475"/>
            <a:ext cx="5665415" cy="344693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5448F22-D870-7914-2D0A-9398C09B2797}"/>
              </a:ext>
            </a:extLst>
          </p:cNvPr>
          <p:cNvSpPr txBox="1"/>
          <p:nvPr/>
        </p:nvSpPr>
        <p:spPr>
          <a:xfrm>
            <a:off x="8967776" y="5951704"/>
            <a:ext cx="13895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Euclidean</a:t>
            </a:r>
            <a:endParaRPr lang="es-ES" dirty="0"/>
          </a:p>
          <a:p>
            <a:pPr algn="ctr"/>
            <a:endParaRPr lang="es-ES" dirty="0"/>
          </a:p>
        </p:txBody>
      </p:sp>
      <p:pic>
        <p:nvPicPr>
          <p:cNvPr id="11" name="Elementos multimedia en línea 10" title="acelaration braking euclidean">
            <a:hlinkClick r:id="" action="ppaction://noaction"/>
            <a:extLst>
              <a:ext uri="{FF2B5EF4-FFF2-40B4-BE49-F238E27FC236}">
                <a16:creationId xmlns:a16="http://schemas.microsoft.com/office/drawing/2014/main" id="{E20AF6A4-253A-AC55-8629-6B80A40B93B9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631454" y="2355476"/>
            <a:ext cx="5262004" cy="33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69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F6347-C2B6-3E14-69A1-5F91AA17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9E379A1-610A-AA96-D057-12B73EDEB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25B2B3-DA8B-FD54-253B-595985668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4E6325-0141-23C5-AE8E-10360D3B5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/>
              <a:t>Video 01- Cosine </a:t>
            </a:r>
            <a:endParaRPr lang="es-E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883E98D-8656-3F8E-4642-156D62A28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47EACA3-046F-EB3E-450C-B5289ECC5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4414" y="6116619"/>
            <a:ext cx="9592593" cy="55859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1600" dirty="0" err="1">
                <a:latin typeface="Meiryo"/>
                <a:ea typeface="Meiryo"/>
                <a:cs typeface="+mn-lt"/>
              </a:rPr>
              <a:t>Based</a:t>
            </a:r>
            <a:r>
              <a:rPr lang="es-ES" sz="1600" dirty="0">
                <a:latin typeface="Meiryo"/>
                <a:ea typeface="Meiryo"/>
                <a:cs typeface="+mn-lt"/>
              </a:rPr>
              <a:t> </a:t>
            </a:r>
            <a:r>
              <a:rPr lang="es-ES" sz="1600" dirty="0" err="1">
                <a:latin typeface="Meiryo"/>
                <a:ea typeface="Meiryo"/>
                <a:cs typeface="+mn-lt"/>
              </a:rPr>
              <a:t>on</a:t>
            </a:r>
            <a:r>
              <a:rPr lang="es-ES" sz="1600" dirty="0">
                <a:latin typeface="Meiryo"/>
                <a:ea typeface="Meiryo"/>
                <a:cs typeface="+mn-lt"/>
              </a:rPr>
              <a:t> </a:t>
            </a:r>
            <a:r>
              <a:rPr lang="es-ES" sz="1600" dirty="0" err="1">
                <a:latin typeface="Meiryo"/>
                <a:ea typeface="Meiryo"/>
                <a:cs typeface="+mn-lt"/>
              </a:rPr>
              <a:t>the</a:t>
            </a:r>
            <a:r>
              <a:rPr lang="es-ES" sz="1600" dirty="0">
                <a:latin typeface="Meiryo"/>
                <a:ea typeface="Meiryo"/>
                <a:cs typeface="+mn-lt"/>
              </a:rPr>
              <a:t> output, </a:t>
            </a:r>
            <a:r>
              <a:rPr lang="es-ES" sz="1600" dirty="0" err="1">
                <a:latin typeface="Meiryo"/>
                <a:ea typeface="Meiryo"/>
                <a:cs typeface="+mn-lt"/>
              </a:rPr>
              <a:t>the</a:t>
            </a:r>
            <a:r>
              <a:rPr lang="es-ES" sz="1600" dirty="0">
                <a:latin typeface="Meiryo"/>
                <a:ea typeface="Meiryo"/>
                <a:cs typeface="+mn-lt"/>
              </a:rPr>
              <a:t> </a:t>
            </a:r>
            <a:r>
              <a:rPr lang="es-ES" sz="1600" dirty="0" err="1">
                <a:latin typeface="Meiryo"/>
                <a:ea typeface="Meiryo"/>
                <a:cs typeface="+mn-lt"/>
              </a:rPr>
              <a:t>s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tate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change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from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stopped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to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accelerating</a:t>
            </a:r>
            <a:r>
              <a:rPr lang="es-ES" sz="1600" b="1" dirty="0">
                <a:latin typeface="Meiryo"/>
                <a:ea typeface="Meiryo"/>
                <a:cs typeface="+mn-lt"/>
              </a:rPr>
              <a:t> has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been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detected</a:t>
            </a:r>
            <a:endParaRPr lang="es-ES" sz="1600" b="1">
              <a:latin typeface="Meiryo"/>
              <a:ea typeface="Meiry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9BB620-36B9-FEB8-266D-086B2D34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46" y="1714500"/>
            <a:ext cx="4170828" cy="416858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C28CA31-D4B9-E79E-D985-0ED26B374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321" y="1716181"/>
            <a:ext cx="3733800" cy="4165226"/>
          </a:xfrm>
          <a:prstGeom prst="rect">
            <a:avLst/>
          </a:prstGeom>
        </p:spPr>
      </p:pic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05BFC056-F31F-BEE5-D40E-480E1FF03769}"/>
              </a:ext>
            </a:extLst>
          </p:cNvPr>
          <p:cNvSpPr/>
          <p:nvPr/>
        </p:nvSpPr>
        <p:spPr>
          <a:xfrm>
            <a:off x="5572364" y="3654238"/>
            <a:ext cx="1036067" cy="490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3F7EFD7-AF4E-99C2-F2FB-EBF41CD3B26C}"/>
              </a:ext>
            </a:extLst>
          </p:cNvPr>
          <p:cNvSpPr/>
          <p:nvPr/>
        </p:nvSpPr>
        <p:spPr>
          <a:xfrm>
            <a:off x="7330812" y="4631533"/>
            <a:ext cx="1232080" cy="938061"/>
          </a:xfrm>
          <a:prstGeom prst="ellipse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8671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328F4-7C9D-6E52-A52A-27F7822F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528237B-E5D0-9002-F7AB-04B22DDE0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C3783E2-BB13-FD86-C2AA-EBB3FF59D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785513D-2B6C-0D05-B341-06BCC991C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D8009720-988D-2280-B708-C0233F347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7178" y="6015766"/>
            <a:ext cx="9783092" cy="55859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1600" dirty="0" err="1">
                <a:latin typeface="Meiryo"/>
                <a:ea typeface="Meiryo"/>
              </a:rPr>
              <a:t>Based</a:t>
            </a:r>
            <a:r>
              <a:rPr lang="es-ES" sz="1600" dirty="0">
                <a:latin typeface="Meiryo"/>
                <a:ea typeface="Meiryo"/>
              </a:rPr>
              <a:t> </a:t>
            </a:r>
            <a:r>
              <a:rPr lang="es-ES" sz="1600" dirty="0" err="1">
                <a:latin typeface="Meiryo"/>
                <a:ea typeface="Meiryo"/>
              </a:rPr>
              <a:t>on</a:t>
            </a:r>
            <a:r>
              <a:rPr lang="es-ES" sz="1600" dirty="0">
                <a:latin typeface="Meiryo"/>
                <a:ea typeface="Meiryo"/>
              </a:rPr>
              <a:t> </a:t>
            </a:r>
            <a:r>
              <a:rPr lang="es-ES" sz="1600" dirty="0" err="1">
                <a:latin typeface="Meiryo"/>
                <a:ea typeface="Meiryo"/>
              </a:rPr>
              <a:t>the</a:t>
            </a:r>
            <a:r>
              <a:rPr lang="es-ES" sz="1600" dirty="0">
                <a:latin typeface="Meiryo"/>
                <a:ea typeface="Meiryo"/>
              </a:rPr>
              <a:t> output, </a:t>
            </a:r>
            <a:r>
              <a:rPr lang="es-ES" sz="1600" dirty="0" err="1">
                <a:latin typeface="Meiryo"/>
                <a:ea typeface="Meiryo"/>
              </a:rPr>
              <a:t>the</a:t>
            </a:r>
            <a:r>
              <a:rPr lang="es-ES" sz="1600" dirty="0">
                <a:latin typeface="Meiryo"/>
                <a:ea typeface="Meiryo"/>
              </a:rPr>
              <a:t> </a:t>
            </a:r>
            <a:r>
              <a:rPr lang="es-ES" sz="1600" dirty="0" err="1">
                <a:latin typeface="Meiryo"/>
                <a:ea typeface="Meiryo"/>
              </a:rPr>
              <a:t>change</a:t>
            </a:r>
            <a:r>
              <a:rPr lang="es-ES" sz="1600" dirty="0">
                <a:latin typeface="Meiryo"/>
                <a:ea typeface="Meiryo"/>
              </a:rPr>
              <a:t> </a:t>
            </a:r>
            <a:r>
              <a:rPr lang="es-ES" sz="1600" dirty="0" err="1">
                <a:latin typeface="Meiryo"/>
                <a:ea typeface="Meiryo"/>
              </a:rPr>
              <a:t>of</a:t>
            </a:r>
            <a:r>
              <a:rPr lang="es-ES" sz="1600" dirty="0">
                <a:latin typeface="Meiryo"/>
                <a:ea typeface="Meiryo"/>
              </a:rPr>
              <a:t> </a:t>
            </a:r>
            <a:r>
              <a:rPr lang="es-ES" sz="1600" dirty="0" err="1">
                <a:latin typeface="Meiryo"/>
                <a:ea typeface="Meiryo"/>
              </a:rPr>
              <a:t>state</a:t>
            </a:r>
            <a:r>
              <a:rPr lang="es-ES" sz="1600" dirty="0">
                <a:latin typeface="Meiryo"/>
                <a:ea typeface="Meiryo"/>
              </a:rPr>
              <a:t> </a:t>
            </a:r>
            <a:r>
              <a:rPr lang="es-ES" sz="1600" b="1" dirty="0" err="1">
                <a:latin typeface="Meiryo"/>
                <a:ea typeface="Meiryo"/>
              </a:rPr>
              <a:t>constant</a:t>
            </a:r>
            <a:r>
              <a:rPr lang="es-ES" sz="1600" b="1" dirty="0">
                <a:latin typeface="Meiryo"/>
                <a:ea typeface="Meiryo"/>
              </a:rPr>
              <a:t> </a:t>
            </a:r>
            <a:r>
              <a:rPr lang="es-ES" sz="1600" b="1" dirty="0" err="1">
                <a:latin typeface="Meiryo"/>
                <a:ea typeface="Meiryo"/>
              </a:rPr>
              <a:t>velocity</a:t>
            </a:r>
            <a:r>
              <a:rPr lang="es-ES" sz="1600" b="1" dirty="0">
                <a:latin typeface="Meiryo"/>
                <a:ea typeface="Meiryo"/>
              </a:rPr>
              <a:t> </a:t>
            </a:r>
            <a:r>
              <a:rPr lang="es-ES" sz="1600" b="1" dirty="0" err="1">
                <a:latin typeface="Meiryo"/>
                <a:ea typeface="Meiryo"/>
              </a:rPr>
              <a:t>to</a:t>
            </a:r>
            <a:r>
              <a:rPr lang="es-ES" sz="1600" b="1" dirty="0">
                <a:latin typeface="Meiryo"/>
                <a:ea typeface="Meiryo"/>
              </a:rPr>
              <a:t> </a:t>
            </a:r>
            <a:r>
              <a:rPr lang="es-ES" sz="1600" b="1" dirty="0" err="1">
                <a:latin typeface="Meiryo"/>
                <a:ea typeface="Meiryo"/>
              </a:rPr>
              <a:t>stopped</a:t>
            </a:r>
            <a:r>
              <a:rPr lang="es-ES" sz="1600" b="1" dirty="0">
                <a:latin typeface="Meiryo"/>
                <a:ea typeface="Meiryo"/>
              </a:rPr>
              <a:t> has </a:t>
            </a:r>
            <a:r>
              <a:rPr lang="es-ES" sz="1600" b="1" dirty="0" err="1">
                <a:latin typeface="Meiryo"/>
                <a:ea typeface="Meiryo"/>
              </a:rPr>
              <a:t>been</a:t>
            </a:r>
            <a:r>
              <a:rPr lang="es-ES" sz="1600" b="1" dirty="0">
                <a:latin typeface="Meiryo"/>
                <a:ea typeface="Meiryo"/>
              </a:rPr>
              <a:t> </a:t>
            </a:r>
            <a:r>
              <a:rPr lang="es-ES" sz="1600" b="1" dirty="0" err="1">
                <a:latin typeface="Meiryo"/>
                <a:ea typeface="Meiryo"/>
              </a:rPr>
              <a:t>detected</a:t>
            </a:r>
            <a:endParaRPr lang="es-ES" sz="1600" b="1" dirty="0">
              <a:latin typeface="Meiryo"/>
              <a:ea typeface="Meiryo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ABD255-DC2B-30B0-A724-55FD95350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22" y="861452"/>
            <a:ext cx="4351804" cy="4967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3636D07-93F8-3511-5743-E3D124A0A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541" y="860051"/>
            <a:ext cx="4574241" cy="4969808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275FF21E-BB5B-EF1F-27F0-D938A7EDBE6C}"/>
              </a:ext>
            </a:extLst>
          </p:cNvPr>
          <p:cNvSpPr/>
          <p:nvPr/>
        </p:nvSpPr>
        <p:spPr>
          <a:xfrm>
            <a:off x="9520571" y="4396210"/>
            <a:ext cx="1050068" cy="1047299"/>
          </a:xfrm>
          <a:prstGeom prst="ellipse">
            <a:avLst/>
          </a:prstGeom>
          <a:noFill/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99D880E5-4296-BF5B-483D-A26E3D3BD529}"/>
              </a:ext>
            </a:extLst>
          </p:cNvPr>
          <p:cNvSpPr/>
          <p:nvPr/>
        </p:nvSpPr>
        <p:spPr>
          <a:xfrm>
            <a:off x="5040329" y="3010196"/>
            <a:ext cx="1414092" cy="644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3840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B4620-8E26-4308-F49F-1C4F0CF6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D06445-CF02-6A70-AC4C-C4DB3D01B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9187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Full graph</a:t>
            </a:r>
            <a:endParaRPr lang="es-ES" sz="480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D0A357-60FE-018E-F8B8-066A0C2A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98" r="48740" b="-239"/>
          <a:stretch>
            <a:fillRect/>
          </a:stretch>
        </p:blipFill>
        <p:spPr>
          <a:xfrm>
            <a:off x="6650963" y="948576"/>
            <a:ext cx="4836175" cy="4956048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65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0D619-7787-EF86-E935-ADFD3E64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B7B89BC-78FB-D143-580E-F0E11F66E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0BF3F6B-00BC-EE0F-51CC-9229D8F7F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AB5852-46CE-6CA6-ACB2-587A3A46E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/>
              <a:t>Video 01- Euclidean </a:t>
            </a:r>
            <a:endParaRPr lang="es-E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3F67C48-9742-2E35-BD43-98E9B48F3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1E0C82DD-862B-0123-F258-5DD56682F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885" y="6004560"/>
            <a:ext cx="10634740" cy="55859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1600" dirty="0" err="1">
                <a:latin typeface="Meiryo"/>
                <a:ea typeface="Meiryo"/>
                <a:cs typeface="+mn-lt"/>
              </a:rPr>
              <a:t>Based</a:t>
            </a:r>
            <a:r>
              <a:rPr lang="es-ES" sz="1600" dirty="0">
                <a:latin typeface="Meiryo"/>
                <a:ea typeface="Meiryo"/>
                <a:cs typeface="+mn-lt"/>
              </a:rPr>
              <a:t> </a:t>
            </a:r>
            <a:r>
              <a:rPr lang="es-ES" sz="1600" dirty="0" err="1">
                <a:latin typeface="Meiryo"/>
                <a:ea typeface="Meiryo"/>
                <a:cs typeface="+mn-lt"/>
              </a:rPr>
              <a:t>on</a:t>
            </a:r>
            <a:r>
              <a:rPr lang="es-ES" sz="1600" dirty="0">
                <a:latin typeface="Meiryo"/>
                <a:ea typeface="Meiryo"/>
                <a:cs typeface="+mn-lt"/>
              </a:rPr>
              <a:t> </a:t>
            </a:r>
            <a:r>
              <a:rPr lang="es-ES" sz="1600" dirty="0" err="1">
                <a:latin typeface="Meiryo"/>
                <a:ea typeface="Meiryo"/>
                <a:cs typeface="+mn-lt"/>
              </a:rPr>
              <a:t>the</a:t>
            </a:r>
            <a:r>
              <a:rPr lang="es-ES" sz="1600" dirty="0">
                <a:latin typeface="Meiryo"/>
                <a:ea typeface="Meiryo"/>
                <a:cs typeface="+mn-lt"/>
              </a:rPr>
              <a:t> output, </a:t>
            </a:r>
            <a:r>
              <a:rPr lang="es-ES" sz="1600" dirty="0" err="1">
                <a:latin typeface="Meiryo"/>
                <a:ea typeface="Meiryo"/>
                <a:cs typeface="+mn-lt"/>
              </a:rPr>
              <a:t>the</a:t>
            </a:r>
            <a:r>
              <a:rPr lang="es-ES" sz="1600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state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change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from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stopped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to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accelerating</a:t>
            </a:r>
            <a:r>
              <a:rPr lang="es-ES" sz="1600" b="1" dirty="0">
                <a:latin typeface="Meiryo"/>
                <a:ea typeface="Meiryo"/>
                <a:cs typeface="+mn-lt"/>
              </a:rPr>
              <a:t> has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been</a:t>
            </a:r>
            <a:r>
              <a:rPr lang="es-ES" sz="1600" b="1" dirty="0">
                <a:latin typeface="Meiryo"/>
                <a:ea typeface="Meiryo"/>
                <a:cs typeface="+mn-lt"/>
              </a:rPr>
              <a:t> </a:t>
            </a:r>
            <a:r>
              <a:rPr lang="es-ES" sz="1600" b="1" dirty="0" err="1">
                <a:latin typeface="Meiryo"/>
                <a:ea typeface="Meiryo"/>
                <a:cs typeface="+mn-lt"/>
              </a:rPr>
              <a:t>detected</a:t>
            </a:r>
            <a:endParaRPr lang="es-ES" sz="1600" b="1" dirty="0">
              <a:latin typeface="Meiryo"/>
              <a:ea typeface="Meiryo"/>
              <a:cs typeface="+mn-lt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ED377FB4-A13A-7214-8D00-64CB65954B5B}"/>
              </a:ext>
            </a:extLst>
          </p:cNvPr>
          <p:cNvSpPr/>
          <p:nvPr/>
        </p:nvSpPr>
        <p:spPr>
          <a:xfrm>
            <a:off x="5572364" y="3654238"/>
            <a:ext cx="1036067" cy="490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EB5E4C-4EFC-3730-3E99-7570FC53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31" y="1787619"/>
            <a:ext cx="4207248" cy="39102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E7F5679-91E5-AF3C-534D-18B0007BB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202" y="1780615"/>
            <a:ext cx="4047564" cy="3913094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C0B4101C-15AF-8043-ED2F-3D47B1E1FF6C}"/>
              </a:ext>
            </a:extLst>
          </p:cNvPr>
          <p:cNvSpPr/>
          <p:nvPr/>
        </p:nvSpPr>
        <p:spPr>
          <a:xfrm>
            <a:off x="7535235" y="4589505"/>
            <a:ext cx="1038939" cy="999706"/>
          </a:xfrm>
          <a:prstGeom prst="ellipse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4491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3EB25-9988-D78F-3A24-D5529B4B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5F15CED-3AD0-AD4E-8233-13431B86F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50B69BB-4CEB-830F-22CA-CD85E22F3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7E959C-FDD3-7DDE-6AA4-B5E8A3984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7828F031-ECCC-25D7-A704-6B642C45C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6826" y="5937325"/>
            <a:ext cx="9842651" cy="558591"/>
          </a:xfrm>
        </p:spPr>
        <p:txBody>
          <a:bodyPr>
            <a:normAutofit fontScale="70000" lnSpcReduction="20000"/>
          </a:bodyPr>
          <a:lstStyle/>
          <a:p>
            <a:r>
              <a:rPr lang="es-ES" dirty="0" err="1">
                <a:latin typeface="Meiryo"/>
                <a:ea typeface="Meiryo"/>
              </a:rPr>
              <a:t>Based</a:t>
            </a:r>
            <a:r>
              <a:rPr lang="es-ES" dirty="0">
                <a:latin typeface="Meiryo"/>
                <a:ea typeface="Meiryo"/>
              </a:rPr>
              <a:t> </a:t>
            </a:r>
            <a:r>
              <a:rPr lang="es-ES" dirty="0" err="1">
                <a:latin typeface="Meiryo"/>
                <a:ea typeface="Meiryo"/>
              </a:rPr>
              <a:t>on</a:t>
            </a:r>
            <a:r>
              <a:rPr lang="es-ES" dirty="0">
                <a:latin typeface="Meiryo"/>
                <a:ea typeface="Meiryo"/>
              </a:rPr>
              <a:t> </a:t>
            </a:r>
            <a:r>
              <a:rPr lang="es-ES" dirty="0" err="1">
                <a:latin typeface="Meiryo"/>
                <a:ea typeface="Meiryo"/>
              </a:rPr>
              <a:t>the</a:t>
            </a:r>
            <a:r>
              <a:rPr lang="es-ES" dirty="0">
                <a:latin typeface="Meiryo"/>
                <a:ea typeface="Meiryo"/>
              </a:rPr>
              <a:t> output, </a:t>
            </a:r>
            <a:r>
              <a:rPr lang="es-ES" dirty="0" err="1">
                <a:latin typeface="Meiryo"/>
                <a:ea typeface="Meiryo"/>
              </a:rPr>
              <a:t>t</a:t>
            </a:r>
            <a:r>
              <a:rPr lang="es-ES" b="1" dirty="0" err="1">
                <a:latin typeface="Meiryo"/>
                <a:ea typeface="Meiryo"/>
              </a:rPr>
              <a:t>he</a:t>
            </a:r>
            <a:r>
              <a:rPr lang="es-ES" b="1" dirty="0">
                <a:latin typeface="Meiryo"/>
                <a:ea typeface="Meiryo"/>
              </a:rPr>
              <a:t> </a:t>
            </a:r>
            <a:r>
              <a:rPr lang="es-ES" b="1" dirty="0" err="1">
                <a:latin typeface="Meiryo"/>
                <a:ea typeface="Meiryo"/>
              </a:rPr>
              <a:t>change</a:t>
            </a:r>
            <a:r>
              <a:rPr lang="es-ES" b="1" dirty="0">
                <a:latin typeface="Meiryo"/>
                <a:ea typeface="Meiryo"/>
              </a:rPr>
              <a:t> </a:t>
            </a:r>
            <a:r>
              <a:rPr lang="es-ES" b="1" dirty="0" err="1">
                <a:latin typeface="Meiryo"/>
                <a:ea typeface="Meiryo"/>
              </a:rPr>
              <a:t>of</a:t>
            </a:r>
            <a:r>
              <a:rPr lang="es-ES" b="1" dirty="0">
                <a:latin typeface="Meiryo"/>
                <a:ea typeface="Meiryo"/>
              </a:rPr>
              <a:t> </a:t>
            </a:r>
            <a:r>
              <a:rPr lang="es-ES" b="1" dirty="0" err="1">
                <a:latin typeface="Meiryo"/>
                <a:ea typeface="Meiryo"/>
              </a:rPr>
              <a:t>state</a:t>
            </a:r>
            <a:r>
              <a:rPr lang="es-ES" b="1" dirty="0">
                <a:latin typeface="Meiryo"/>
                <a:ea typeface="Meiryo"/>
              </a:rPr>
              <a:t> </a:t>
            </a:r>
            <a:r>
              <a:rPr lang="es-ES" b="1" dirty="0" err="1">
                <a:latin typeface="Meiryo"/>
                <a:ea typeface="Meiryo"/>
              </a:rPr>
              <a:t>constant</a:t>
            </a:r>
            <a:r>
              <a:rPr lang="es-ES" b="1" dirty="0">
                <a:latin typeface="Meiryo"/>
                <a:ea typeface="Meiryo"/>
              </a:rPr>
              <a:t> </a:t>
            </a:r>
            <a:r>
              <a:rPr lang="es-ES" b="1" dirty="0" err="1">
                <a:latin typeface="Meiryo"/>
                <a:ea typeface="Meiryo"/>
              </a:rPr>
              <a:t>velocity</a:t>
            </a:r>
            <a:r>
              <a:rPr lang="es-ES" b="1" dirty="0">
                <a:latin typeface="Meiryo"/>
                <a:ea typeface="Meiryo"/>
              </a:rPr>
              <a:t> </a:t>
            </a:r>
            <a:r>
              <a:rPr lang="es-ES" b="1" dirty="0" err="1">
                <a:latin typeface="Meiryo"/>
                <a:ea typeface="Meiryo"/>
              </a:rPr>
              <a:t>to</a:t>
            </a:r>
            <a:r>
              <a:rPr lang="es-ES" b="1" dirty="0">
                <a:latin typeface="Meiryo"/>
                <a:ea typeface="Meiryo"/>
              </a:rPr>
              <a:t> </a:t>
            </a:r>
            <a:r>
              <a:rPr lang="es-ES" b="1" dirty="0" err="1">
                <a:latin typeface="Meiryo"/>
                <a:ea typeface="Meiryo"/>
              </a:rPr>
              <a:t>stopped</a:t>
            </a:r>
            <a:r>
              <a:rPr lang="es-ES" b="1" dirty="0">
                <a:latin typeface="Meiryo"/>
                <a:ea typeface="Meiryo"/>
              </a:rPr>
              <a:t> has </a:t>
            </a:r>
            <a:r>
              <a:rPr lang="es-ES" b="1" dirty="0" err="1">
                <a:latin typeface="Meiryo"/>
                <a:ea typeface="Meiryo"/>
              </a:rPr>
              <a:t>been</a:t>
            </a:r>
            <a:r>
              <a:rPr lang="es-ES" b="1" dirty="0">
                <a:latin typeface="Meiryo"/>
                <a:ea typeface="Meiryo"/>
              </a:rPr>
              <a:t> </a:t>
            </a:r>
            <a:r>
              <a:rPr lang="es-ES" b="1" dirty="0" err="1">
                <a:latin typeface="Meiryo"/>
                <a:ea typeface="Meiryo"/>
              </a:rPr>
              <a:t>detected</a:t>
            </a:r>
            <a:endParaRPr lang="es-ES" b="1" dirty="0">
              <a:latin typeface="Meiryo"/>
              <a:ea typeface="Meiryo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57AD1E0-632A-AB83-FE4B-A56CD4CAF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65" y="1008248"/>
            <a:ext cx="4644277" cy="458376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17930C-A4AF-E4C6-6EF2-F8DB9A2B0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288" y="1008248"/>
            <a:ext cx="4565835" cy="4583766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37BAEA50-A607-5C59-0346-950ED2330BB3}"/>
              </a:ext>
            </a:extLst>
          </p:cNvPr>
          <p:cNvSpPr/>
          <p:nvPr/>
        </p:nvSpPr>
        <p:spPr>
          <a:xfrm>
            <a:off x="10019039" y="4365438"/>
            <a:ext cx="1047272" cy="1108917"/>
          </a:xfrm>
          <a:prstGeom prst="ellipse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8968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68CA0-97B8-D496-8314-14DEE3722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E72A004-0F5B-37FC-49E7-B30CDBB03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A7103F-C331-B23A-DA14-E27E17460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9187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Full graph</a:t>
            </a:r>
            <a:endParaRPr lang="es-ES" sz="480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E84B3E4-D635-0E1B-9D58-84936E601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2D659AF-9096-1876-BC6E-04D8ED9B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6B76DE-AC16-1870-86E8-F69A1C373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467" b="478"/>
          <a:stretch>
            <a:fillRect/>
          </a:stretch>
        </p:blipFill>
        <p:spPr>
          <a:xfrm>
            <a:off x="6456124" y="942780"/>
            <a:ext cx="4906033" cy="496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7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E8383-484C-26AD-383B-DAD722BB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6EE7386-C091-C6AA-BEB0-70D54A7E8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41302C2-AAD8-7E70-395A-11640297D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A59306-BEAD-A889-C06D-F9923D2D7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32732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/>
              <a:t>Video 02a- results</a:t>
            </a:r>
            <a:endParaRPr lang="en-US" sz="4400" b="1" kern="1200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7FEC96-8E76-876F-BC4A-FD19BA7A5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24A27C49-94FC-1849-F64F-E51D34784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1445453"/>
            <a:ext cx="11367880" cy="762293"/>
          </a:xfrm>
        </p:spPr>
        <p:txBody>
          <a:bodyPr/>
          <a:lstStyle/>
          <a:p>
            <a:r>
              <a:rPr lang="es-ES" sz="2000" b="1" i="0" dirty="0">
                <a:latin typeface="Meiryo"/>
                <a:ea typeface="Meiryo"/>
              </a:rPr>
              <a:t>Situation</a:t>
            </a:r>
            <a:r>
              <a:rPr lang="es-ES" sz="2000" i="0" dirty="0">
                <a:latin typeface="Meiryo"/>
                <a:ea typeface="Meiryo"/>
              </a:rPr>
              <a:t>:  green light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091DAC-1803-AB5D-AF7B-5EE4E6F6BDB7}"/>
              </a:ext>
            </a:extLst>
          </p:cNvPr>
          <p:cNvSpPr txBox="1"/>
          <p:nvPr/>
        </p:nvSpPr>
        <p:spPr>
          <a:xfrm>
            <a:off x="3006247" y="5951705"/>
            <a:ext cx="13895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Cosine</a:t>
            </a:r>
            <a:endParaRPr lang="es-ES" dirty="0"/>
          </a:p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0692C1-8A7A-7EF2-1377-2A87DAEB713D}"/>
              </a:ext>
            </a:extLst>
          </p:cNvPr>
          <p:cNvSpPr txBox="1"/>
          <p:nvPr/>
        </p:nvSpPr>
        <p:spPr>
          <a:xfrm>
            <a:off x="8967776" y="5951704"/>
            <a:ext cx="13895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Euclidean</a:t>
            </a:r>
            <a:endParaRPr lang="es-ES" dirty="0"/>
          </a:p>
          <a:p>
            <a:pPr algn="ctr"/>
            <a:endParaRPr lang="es-ES" dirty="0"/>
          </a:p>
        </p:txBody>
      </p:sp>
      <p:pic>
        <p:nvPicPr>
          <p:cNvPr id="3" name="Elementos multimedia en línea 2" title="green light cosine">
            <a:hlinkClick r:id="" action="ppaction://noaction"/>
            <a:extLst>
              <a:ext uri="{FF2B5EF4-FFF2-40B4-BE49-F238E27FC236}">
                <a16:creationId xmlns:a16="http://schemas.microsoft.com/office/drawing/2014/main" id="{B7071F8E-90D5-E6EA-6810-504058E690C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24248" y="2355476"/>
            <a:ext cx="5687828" cy="3424518"/>
          </a:xfrm>
          <a:prstGeom prst="rect">
            <a:avLst/>
          </a:prstGeom>
        </p:spPr>
      </p:pic>
      <p:pic>
        <p:nvPicPr>
          <p:cNvPr id="4" name="Elementos multimedia en línea 3" title="green light euclidean">
            <a:hlinkClick r:id="" action="ppaction://noaction"/>
            <a:extLst>
              <a:ext uri="{FF2B5EF4-FFF2-40B4-BE49-F238E27FC236}">
                <a16:creationId xmlns:a16="http://schemas.microsoft.com/office/drawing/2014/main" id="{3EA5F90F-865F-C3B4-E6D0-BC7A0301B6C7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362513" y="2355476"/>
            <a:ext cx="5699033" cy="342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1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B4C45-CFB1-C61E-6AB3-DB5F43A1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354BC2-7A25-11B3-DD6B-51FDC1797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621BF58-B120-643F-3DD3-3A3FFA181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18FCF7-E2FE-00D8-098C-5533C4CC6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10320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/>
              <a:t>Video 02a- Cosine </a:t>
            </a:r>
            <a:endParaRPr lang="es-E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C123256-C437-7CB5-D283-95205EC59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3F272041-7ED7-D6FC-59EF-3E63A5524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0619" y="6139030"/>
            <a:ext cx="6242035" cy="55859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1800" dirty="0">
                <a:latin typeface="Meiryo"/>
                <a:ea typeface="Meiryo"/>
                <a:cs typeface="+mn-lt"/>
              </a:rPr>
              <a:t>It seems that the </a:t>
            </a:r>
            <a:r>
              <a:rPr lang="es-ES" sz="1800" b="1" dirty="0">
                <a:latin typeface="Meiryo"/>
                <a:ea typeface="Meiryo"/>
                <a:cs typeface="+mn-lt"/>
              </a:rPr>
              <a:t>green light has been detected</a:t>
            </a:r>
            <a:endParaRPr lang="es-ES" sz="1800" b="1">
              <a:latin typeface="Meiryo"/>
              <a:ea typeface="Meiryo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664B3177-78A7-A950-0A88-137E1F705035}"/>
              </a:ext>
            </a:extLst>
          </p:cNvPr>
          <p:cNvSpPr/>
          <p:nvPr/>
        </p:nvSpPr>
        <p:spPr>
          <a:xfrm>
            <a:off x="5359452" y="3654238"/>
            <a:ext cx="1036067" cy="490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6EDFDD-7BC8-19B1-145E-31E08B69B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938" y="1711978"/>
            <a:ext cx="4071097" cy="42520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B2FACDA-18A3-867C-B84F-39379EB48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904" y="1595438"/>
            <a:ext cx="4331073" cy="43506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B3C50C9-1D8F-F4F0-FAF4-6DB1C3377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245" y="1746436"/>
            <a:ext cx="1695450" cy="2031626"/>
          </a:xfrm>
          <a:prstGeom prst="rect">
            <a:avLst/>
          </a:prstGeom>
        </p:spPr>
      </p:pic>
      <p:sp>
        <p:nvSpPr>
          <p:cNvPr id="9" name="Bocadillo: rectángulo 8">
            <a:extLst>
              <a:ext uri="{FF2B5EF4-FFF2-40B4-BE49-F238E27FC236}">
                <a16:creationId xmlns:a16="http://schemas.microsoft.com/office/drawing/2014/main" id="{A2E385C0-C187-2B92-201D-05D4CACDE740}"/>
              </a:ext>
            </a:extLst>
          </p:cNvPr>
          <p:cNvSpPr/>
          <p:nvPr/>
        </p:nvSpPr>
        <p:spPr>
          <a:xfrm rot="5400000">
            <a:off x="9951786" y="1899994"/>
            <a:ext cx="2053361" cy="1732476"/>
          </a:xfrm>
          <a:prstGeom prst="wedgeRectCallou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A3286AB-956D-BD97-8CAE-CBA8F6B299D2}"/>
              </a:ext>
            </a:extLst>
          </p:cNvPr>
          <p:cNvSpPr/>
          <p:nvPr/>
        </p:nvSpPr>
        <p:spPr>
          <a:xfrm>
            <a:off x="8092529" y="4831716"/>
            <a:ext cx="1130573" cy="856856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6736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317DC-5448-89EA-4FA6-441BD936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A27B129-55B2-8404-CC2D-E526F5D1C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04F0AC-B507-6860-113F-09CF54D5D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9187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Full graph</a:t>
            </a:r>
            <a:endParaRPr lang="es-ES" sz="480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60F025B-90F0-6D84-E3BE-668493A6C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D054D65-141C-9761-4487-F2C2F6591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1F7EF8-896F-AC62-F5A7-3D0D4D251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841" b="299"/>
          <a:stretch>
            <a:fillRect/>
          </a:stretch>
        </p:blipFill>
        <p:spPr>
          <a:xfrm>
            <a:off x="5813904" y="866057"/>
            <a:ext cx="5516817" cy="509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68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15DD3-F77A-3628-580F-235278C67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963DFD4-813D-DD8D-7FA7-611AF146A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9DF4362-1E04-6C37-016D-E33035289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922F48-6D4D-B0F4-5B16-41F0C44EC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10320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/>
              <a:t>Video 02a- Euclidean </a:t>
            </a:r>
            <a:endParaRPr lang="es-E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B48DD58-AD4C-AF68-E71E-B5A3976E6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589D4C7B-2646-FCE8-813A-ED23D05EE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068" y="5910154"/>
            <a:ext cx="6874323" cy="49596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1800" dirty="0">
                <a:latin typeface="Meiryo"/>
                <a:ea typeface="Meiryo"/>
                <a:cs typeface="+mn-lt"/>
              </a:rPr>
              <a:t>It seems that the </a:t>
            </a:r>
            <a:r>
              <a:rPr lang="es-ES" sz="1800" b="1" dirty="0">
                <a:latin typeface="Meiryo"/>
                <a:ea typeface="Meiryo"/>
                <a:cs typeface="+mn-lt"/>
              </a:rPr>
              <a:t>green light has not been detected</a:t>
            </a:r>
            <a:endParaRPr lang="es-ES" sz="1800" b="1">
              <a:latin typeface="Meiryo"/>
              <a:ea typeface="Meiryo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189B1E0E-DEEA-CAEA-783B-0455549233B9}"/>
              </a:ext>
            </a:extLst>
          </p:cNvPr>
          <p:cNvSpPr/>
          <p:nvPr/>
        </p:nvSpPr>
        <p:spPr>
          <a:xfrm>
            <a:off x="5255068" y="3654238"/>
            <a:ext cx="1036067" cy="490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BDDB52-EB18-E2E9-4421-241C5C835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04" y="1602223"/>
            <a:ext cx="4019419" cy="409196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6699938-8C4C-CDEC-4421-6F7CD0673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989" y="1605158"/>
            <a:ext cx="3998542" cy="399214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39A075D-1F69-A84E-C5A6-53DA90F20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537" y="1605028"/>
            <a:ext cx="1759254" cy="2082191"/>
          </a:xfrm>
          <a:prstGeom prst="rect">
            <a:avLst/>
          </a:prstGeom>
        </p:spPr>
      </p:pic>
      <p:sp>
        <p:nvSpPr>
          <p:cNvPr id="12" name="Bocadillo: rectángulo 11">
            <a:extLst>
              <a:ext uri="{FF2B5EF4-FFF2-40B4-BE49-F238E27FC236}">
                <a16:creationId xmlns:a16="http://schemas.microsoft.com/office/drawing/2014/main" id="{82CD5DF3-C497-8637-BC51-1DC9E3B7359F}"/>
              </a:ext>
            </a:extLst>
          </p:cNvPr>
          <p:cNvSpPr/>
          <p:nvPr/>
        </p:nvSpPr>
        <p:spPr>
          <a:xfrm rot="5400000">
            <a:off x="9727158" y="1757366"/>
            <a:ext cx="2046788" cy="1810489"/>
          </a:xfrm>
          <a:prstGeom prst="wedgeRectCallou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9535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82BCE-56FE-E70F-343C-BA9E3F89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6DBFFEC-F24E-E432-E1B5-14B92CC7D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AC7800-2111-BBDA-6027-09A74F04B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9187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Full graph</a:t>
            </a:r>
            <a:endParaRPr lang="es-ES" sz="480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8714D2A-5B6C-13BD-AD63-CB0F65B26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9B5D924-99AE-693E-237A-12997CAC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247C81-ADF9-9CDD-1932-165A62B9D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0" t="2082" r="44597" b="-588"/>
          <a:stretch>
            <a:fillRect/>
          </a:stretch>
        </p:blipFill>
        <p:spPr>
          <a:xfrm>
            <a:off x="6090781" y="1000567"/>
            <a:ext cx="5208747" cy="496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021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48F8D-39A3-BD88-8A42-4B57DD11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C64C221-CEBE-E264-E93B-BCB54850D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3566053-4FC6-ADF4-4C74-09CB751D3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5D0E5C-23FB-D6E5-B132-62229060F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32732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/>
              <a:t>Video 02b- results</a:t>
            </a:r>
            <a:endParaRPr lang="en-US" sz="4400" b="0"/>
          </a:p>
          <a:p>
            <a:endParaRPr lang="en-US" sz="4400" b="1" kern="1200" dirty="0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EDCCFB4-6887-9225-640A-5BCE3AD04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10ABD839-7475-2DEC-12A0-D2BD8D5CD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1445453"/>
            <a:ext cx="11367880" cy="762293"/>
          </a:xfrm>
        </p:spPr>
        <p:txBody>
          <a:bodyPr/>
          <a:lstStyle/>
          <a:p>
            <a:r>
              <a:rPr lang="es-ES" sz="2000" b="1" i="0" dirty="0">
                <a:latin typeface="Meiryo"/>
                <a:ea typeface="Meiryo"/>
              </a:rPr>
              <a:t>Situation</a:t>
            </a:r>
            <a:r>
              <a:rPr lang="es-ES" sz="2000" i="0" dirty="0">
                <a:latin typeface="Meiryo"/>
                <a:ea typeface="Meiryo"/>
              </a:rPr>
              <a:t>:  green light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969523F-F8FA-21E3-F6EA-B0C58EC19967}"/>
              </a:ext>
            </a:extLst>
          </p:cNvPr>
          <p:cNvSpPr txBox="1"/>
          <p:nvPr/>
        </p:nvSpPr>
        <p:spPr>
          <a:xfrm>
            <a:off x="4587974" y="5974796"/>
            <a:ext cx="1389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Cosine</a:t>
            </a:r>
            <a:endParaRPr lang="es-ES"/>
          </a:p>
        </p:txBody>
      </p:sp>
      <p:pic>
        <p:nvPicPr>
          <p:cNvPr id="5" name="Elementos multimedia en línea 4" title="greenlight v3_cosine">
            <a:hlinkClick r:id="" action="ppaction://noaction"/>
            <a:extLst>
              <a:ext uri="{FF2B5EF4-FFF2-40B4-BE49-F238E27FC236}">
                <a16:creationId xmlns:a16="http://schemas.microsoft.com/office/drawing/2014/main" id="{BC64349D-1E6C-3F01-24E8-73D06341002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442152" y="2429163"/>
            <a:ext cx="6143193" cy="353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11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FF1F1-9CC2-EE96-7E46-13243DEE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CB11A8-6F59-671E-0BDA-B251F3DC0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85ECC91-B195-5188-AFD2-97C23F307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282582-53AB-3A4D-91F2-16C2428B1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10320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/>
              <a:t>Video 02b- Cosine </a:t>
            </a:r>
            <a:endParaRPr lang="es-E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C98DEB-2C19-E110-C3F3-290F0AC57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B2C562B8-2F90-7B43-4FF2-633C238EF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4619" y="6069758"/>
            <a:ext cx="7373489" cy="61631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1800" dirty="0" err="1">
                <a:latin typeface="Meiryo"/>
                <a:ea typeface="Meiryo"/>
                <a:cs typeface="+mn-lt"/>
              </a:rPr>
              <a:t>It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seems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that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the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b="1" dirty="0">
                <a:latin typeface="Meiryo"/>
                <a:ea typeface="Meiryo"/>
                <a:cs typeface="+mn-lt"/>
              </a:rPr>
              <a:t>green light has </a:t>
            </a:r>
            <a:r>
              <a:rPr lang="es-ES" sz="1800" b="1" dirty="0" err="1">
                <a:latin typeface="Meiryo"/>
                <a:ea typeface="Meiryo"/>
                <a:cs typeface="+mn-lt"/>
              </a:rPr>
              <a:t>not</a:t>
            </a:r>
            <a:r>
              <a:rPr lang="es-ES" sz="1800" b="1" dirty="0">
                <a:latin typeface="Meiryo"/>
                <a:ea typeface="Meiryo"/>
                <a:cs typeface="+mn-lt"/>
              </a:rPr>
              <a:t> </a:t>
            </a:r>
            <a:r>
              <a:rPr lang="es-ES" sz="1800" b="1" dirty="0" err="1">
                <a:latin typeface="Meiryo"/>
                <a:ea typeface="Meiryo"/>
                <a:cs typeface="+mn-lt"/>
              </a:rPr>
              <a:t>been</a:t>
            </a:r>
            <a:r>
              <a:rPr lang="es-ES" sz="1800" b="1" dirty="0">
                <a:latin typeface="Meiryo"/>
                <a:ea typeface="Meiryo"/>
                <a:cs typeface="+mn-lt"/>
              </a:rPr>
              <a:t> </a:t>
            </a:r>
            <a:r>
              <a:rPr lang="es-ES" sz="1800" b="1" dirty="0" err="1">
                <a:latin typeface="Meiryo"/>
                <a:ea typeface="Meiryo"/>
                <a:cs typeface="+mn-lt"/>
              </a:rPr>
              <a:t>detected</a:t>
            </a:r>
            <a:endParaRPr lang="es-ES" sz="1800" b="1" dirty="0" err="1">
              <a:latin typeface="Meiryo"/>
              <a:ea typeface="Meiryo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852DC37D-8A02-7D32-10F2-C236F5E9ABA6}"/>
              </a:ext>
            </a:extLst>
          </p:cNvPr>
          <p:cNvSpPr/>
          <p:nvPr/>
        </p:nvSpPr>
        <p:spPr>
          <a:xfrm>
            <a:off x="5082361" y="3584965"/>
            <a:ext cx="1139976" cy="5362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1D8D95-6A12-6023-511F-27C5D5D3B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77" y="1588222"/>
            <a:ext cx="4358409" cy="44897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4F3930-EC20-5E85-1CC6-61321718B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875" y="1585336"/>
            <a:ext cx="1422976" cy="1620692"/>
          </a:xfrm>
          <a:prstGeom prst="rect">
            <a:avLst/>
          </a:prstGeom>
        </p:spPr>
      </p:pic>
      <p:sp>
        <p:nvSpPr>
          <p:cNvPr id="11" name="Bocadillo: rectángulo 10">
            <a:extLst>
              <a:ext uri="{FF2B5EF4-FFF2-40B4-BE49-F238E27FC236}">
                <a16:creationId xmlns:a16="http://schemas.microsoft.com/office/drawing/2014/main" id="{EB9B9E8C-412F-BB58-C888-28D32D5A59D7}"/>
              </a:ext>
            </a:extLst>
          </p:cNvPr>
          <p:cNvSpPr/>
          <p:nvPr/>
        </p:nvSpPr>
        <p:spPr>
          <a:xfrm rot="5400000">
            <a:off x="4093917" y="1668687"/>
            <a:ext cx="1608048" cy="1483980"/>
          </a:xfrm>
          <a:prstGeom prst="wedgeRectCallou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CBAC581-D932-A2F6-950E-FA24B1191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847" y="1421103"/>
            <a:ext cx="4406034" cy="4639250"/>
          </a:xfrm>
          <a:prstGeom prst="rect">
            <a:avLst/>
          </a:prstGeom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A286456F-649B-72D1-62BD-20F33C4874C0}"/>
              </a:ext>
            </a:extLst>
          </p:cNvPr>
          <p:cNvSpPr/>
          <p:nvPr/>
        </p:nvSpPr>
        <p:spPr>
          <a:xfrm>
            <a:off x="7460154" y="4674153"/>
            <a:ext cx="1059496" cy="562946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8209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21269-2622-ABDD-2860-BBF2CC6E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8D2D5FE-895A-6CDD-C696-B18C6816D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ADD554-F40F-D399-B8B3-5E100D0EF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9187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Full graph</a:t>
            </a:r>
            <a:endParaRPr lang="es-ES" sz="480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B028B91-A6B5-BA56-5AFC-7D985DDF3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87A8CF8-45A0-33B5-E733-C950C76A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F9F598-9C18-4CF7-CAD5-4F3D4C896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554" y="1000702"/>
            <a:ext cx="4779529" cy="501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37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011E5-4725-708F-E49A-E1B7D7B5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D315D6E-9EAB-53B2-831B-A7E58C9C5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CAA33E5-2A6E-FB85-31B1-B4D504903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0122ED-6A28-0343-E7E6-66172E06D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10320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/>
              <a:t>Video 02b- Eucl</a:t>
            </a:r>
            <a:r>
              <a:rPr lang="en-US" sz="4400"/>
              <a:t>idean</a:t>
            </a:r>
            <a:endParaRPr lang="es-E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FF0FDC1-C274-85A7-5AF1-A6BFB567D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E19C728-8120-AE68-EB03-DDCA79680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2437" y="3425849"/>
            <a:ext cx="7373489" cy="6163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s-ES" sz="1800" dirty="0" err="1">
                <a:latin typeface="Meiryo"/>
                <a:ea typeface="Meiryo"/>
                <a:cs typeface="+mn-lt"/>
              </a:rPr>
              <a:t>It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was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b="1" dirty="0" err="1">
                <a:latin typeface="Meiryo"/>
                <a:ea typeface="Meiryo"/>
                <a:cs typeface="+mn-lt"/>
              </a:rPr>
              <a:t>not</a:t>
            </a:r>
            <a:r>
              <a:rPr lang="es-ES" sz="1800" b="1" dirty="0">
                <a:latin typeface="Meiryo"/>
                <a:ea typeface="Meiryo"/>
                <a:cs typeface="+mn-lt"/>
              </a:rPr>
              <a:t> </a:t>
            </a:r>
            <a:r>
              <a:rPr lang="es-ES" sz="1800" b="1" dirty="0" err="1">
                <a:latin typeface="Meiryo"/>
                <a:ea typeface="Meiryo"/>
                <a:cs typeface="+mn-lt"/>
              </a:rPr>
              <a:t>possible</a:t>
            </a:r>
            <a:r>
              <a:rPr lang="es-ES" sz="1800" b="1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to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detect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b="1" dirty="0">
                <a:latin typeface="Meiryo"/>
                <a:ea typeface="Meiryo"/>
                <a:cs typeface="+mn-lt"/>
              </a:rPr>
              <a:t>green light </a:t>
            </a:r>
            <a:r>
              <a:rPr lang="es-ES" sz="1800" dirty="0" err="1">
                <a:latin typeface="Meiryo"/>
                <a:ea typeface="Meiryo"/>
                <a:cs typeface="+mn-lt"/>
              </a:rPr>
              <a:t>with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the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euclidean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distance</a:t>
            </a:r>
            <a:r>
              <a:rPr lang="es-ES" sz="1800" dirty="0">
                <a:latin typeface="Meiryo"/>
                <a:ea typeface="Meiryo"/>
                <a:cs typeface="+mn-lt"/>
              </a:rPr>
              <a:t> as </a:t>
            </a:r>
            <a:r>
              <a:rPr lang="es-ES" sz="1800" dirty="0" err="1">
                <a:latin typeface="Meiryo"/>
                <a:ea typeface="Meiryo"/>
                <a:cs typeface="+mn-lt"/>
              </a:rPr>
              <a:t>an</a:t>
            </a:r>
            <a:r>
              <a:rPr lang="es-ES" sz="1800" dirty="0">
                <a:latin typeface="Meiryo"/>
                <a:ea typeface="Meiryo"/>
                <a:cs typeface="+mn-lt"/>
              </a:rPr>
              <a:t> </a:t>
            </a:r>
            <a:r>
              <a:rPr lang="es-ES" sz="1800" dirty="0" err="1">
                <a:latin typeface="Meiryo"/>
                <a:ea typeface="Meiryo"/>
                <a:cs typeface="+mn-lt"/>
              </a:rPr>
              <a:t>heuristic</a:t>
            </a:r>
            <a:endParaRPr lang="es-ES" sz="1800"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160695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2B3FD-F5C7-C57C-15BF-FA8A5AAA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2C25BF7-7BA4-AA67-148C-EB95815B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ADA712E-DD45-50C6-1E5A-C58086B82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4E464B-5D1D-EE3A-3635-C77458E58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/>
              <a:t>Video 03- results</a:t>
            </a:r>
            <a:endParaRPr lang="en-US" sz="4400" b="1" kern="1200" dirty="0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2EA6B59-30DC-2ACB-C66D-4248FE2CB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02FC978D-666F-326F-DD5D-E9D1FFA6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1714394"/>
            <a:ext cx="11367880" cy="504558"/>
          </a:xfrm>
        </p:spPr>
        <p:txBody>
          <a:bodyPr/>
          <a:lstStyle/>
          <a:p>
            <a:r>
              <a:rPr lang="es-ES" sz="1800" b="1" i="0" dirty="0">
                <a:latin typeface="Meiryo"/>
                <a:ea typeface="Meiryo"/>
              </a:rPr>
              <a:t>Situation</a:t>
            </a:r>
            <a:r>
              <a:rPr lang="es-ES" sz="1800" i="0" dirty="0">
                <a:latin typeface="Meiryo"/>
                <a:ea typeface="Meiryo"/>
              </a:rPr>
              <a:t>:  </a:t>
            </a:r>
            <a:r>
              <a:rPr lang="es-ES" sz="1800" i="0" dirty="0">
                <a:latin typeface="Meiryo"/>
                <a:ea typeface="Meiryo"/>
                <a:cs typeface="+mn-lt"/>
              </a:rPr>
              <a:t>Unexpected pedestrian appearance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E5C2F7-B0F5-5B7E-21C2-B15593F50E75}"/>
              </a:ext>
            </a:extLst>
          </p:cNvPr>
          <p:cNvSpPr txBox="1"/>
          <p:nvPr/>
        </p:nvSpPr>
        <p:spPr>
          <a:xfrm>
            <a:off x="3006247" y="5951705"/>
            <a:ext cx="13895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Cosine</a:t>
            </a:r>
            <a:endParaRPr lang="es-ES" dirty="0"/>
          </a:p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050E4DB-E56C-DE25-B91D-AB85D923762A}"/>
              </a:ext>
            </a:extLst>
          </p:cNvPr>
          <p:cNvSpPr txBox="1"/>
          <p:nvPr/>
        </p:nvSpPr>
        <p:spPr>
          <a:xfrm>
            <a:off x="8967776" y="5951704"/>
            <a:ext cx="13895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Euclidean</a:t>
            </a:r>
            <a:endParaRPr lang="es-ES" dirty="0"/>
          </a:p>
          <a:p>
            <a:pPr algn="ctr"/>
            <a:endParaRPr lang="es-ES" dirty="0"/>
          </a:p>
        </p:txBody>
      </p:sp>
      <p:pic>
        <p:nvPicPr>
          <p:cNvPr id="5" name="Elementos multimedia en línea 4" title="pedestrian cosine">
            <a:hlinkClick r:id="" action="ppaction://noaction"/>
            <a:extLst>
              <a:ext uri="{FF2B5EF4-FFF2-40B4-BE49-F238E27FC236}">
                <a16:creationId xmlns:a16="http://schemas.microsoft.com/office/drawing/2014/main" id="{CFAF183E-A755-EEE6-CA5B-BF2FB59BD99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75368" y="2547257"/>
            <a:ext cx="5062538" cy="3069771"/>
          </a:xfrm>
          <a:prstGeom prst="rect">
            <a:avLst/>
          </a:prstGeom>
        </p:spPr>
      </p:pic>
      <p:pic>
        <p:nvPicPr>
          <p:cNvPr id="7" name="Elementos multimedia en línea 6" title="pedestrian euclidean">
            <a:hlinkClick r:id="" action="ppaction://noaction"/>
            <a:extLst>
              <a:ext uri="{FF2B5EF4-FFF2-40B4-BE49-F238E27FC236}">
                <a16:creationId xmlns:a16="http://schemas.microsoft.com/office/drawing/2014/main" id="{2A1AB0BB-A3C9-6DA4-DEF5-3B2FD14DB89E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205311" y="2536371"/>
            <a:ext cx="5519738" cy="308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34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9F076-2C0E-709D-458C-AAB0B5E7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E96D129-9A08-BC60-8C1C-93A494DA3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494C263-EEA1-4454-BD7E-43EA45940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6559DB-3070-72D9-87BA-7B822028A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10320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/>
              <a:t>Video 03- Cosine </a:t>
            </a:r>
            <a:endParaRPr lang="es-E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6719DB6-54EE-2DF0-86EC-C506AF87D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A008729A-41E7-67BC-4A37-2C4A1E99D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88" y="6178481"/>
            <a:ext cx="6545361" cy="47508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1800" dirty="0">
                <a:ea typeface="+mn-lt"/>
                <a:cs typeface="+mn-lt"/>
              </a:rPr>
              <a:t>The </a:t>
            </a:r>
            <a:r>
              <a:rPr lang="es-ES" sz="1800" b="1" dirty="0">
                <a:ea typeface="+mn-lt"/>
                <a:cs typeface="+mn-lt"/>
              </a:rPr>
              <a:t>pedestrian has not been detected</a:t>
            </a:r>
            <a:endParaRPr lang="es-ES" b="1" dirty="0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C2E7852D-D93D-0D33-7899-03C6836D91A6}"/>
              </a:ext>
            </a:extLst>
          </p:cNvPr>
          <p:cNvSpPr/>
          <p:nvPr/>
        </p:nvSpPr>
        <p:spPr>
          <a:xfrm>
            <a:off x="5359452" y="3654238"/>
            <a:ext cx="1036067" cy="490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1F6219-A2C9-F160-5701-221C5E2AE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82" y="1601765"/>
            <a:ext cx="4211094" cy="4458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83AD960-8DA8-4050-EF19-8B445F81D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40" y="1601570"/>
            <a:ext cx="4144811" cy="44481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3CD0A04-0849-8B8A-26AC-8F0C87B91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956" y="2765447"/>
            <a:ext cx="1212936" cy="2496202"/>
          </a:xfrm>
          <a:prstGeom prst="rect">
            <a:avLst/>
          </a:prstGeom>
        </p:spPr>
      </p:pic>
      <p:sp>
        <p:nvSpPr>
          <p:cNvPr id="12" name="Bocadillo: rectángulo 11">
            <a:extLst>
              <a:ext uri="{FF2B5EF4-FFF2-40B4-BE49-F238E27FC236}">
                <a16:creationId xmlns:a16="http://schemas.microsoft.com/office/drawing/2014/main" id="{BE51DC45-2D48-3477-35E6-B751DF7A9A26}"/>
              </a:ext>
            </a:extLst>
          </p:cNvPr>
          <p:cNvSpPr/>
          <p:nvPr/>
        </p:nvSpPr>
        <p:spPr>
          <a:xfrm rot="5400000">
            <a:off x="9672559" y="3430820"/>
            <a:ext cx="2404562" cy="1173730"/>
          </a:xfrm>
          <a:prstGeom prst="wedgeRectCallou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7FE5A87-9CC3-263C-9EF2-D6BB159664FB}"/>
              </a:ext>
            </a:extLst>
          </p:cNvPr>
          <p:cNvSpPr/>
          <p:nvPr/>
        </p:nvSpPr>
        <p:spPr>
          <a:xfrm>
            <a:off x="7725305" y="4896319"/>
            <a:ext cx="1142474" cy="720847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Diagrama de flujo: proceso 5">
            <a:extLst>
              <a:ext uri="{FF2B5EF4-FFF2-40B4-BE49-F238E27FC236}">
                <a16:creationId xmlns:a16="http://schemas.microsoft.com/office/drawing/2014/main" id="{E5C302E6-1B7F-9985-61A2-24ED1AB2C25D}"/>
              </a:ext>
            </a:extLst>
          </p:cNvPr>
          <p:cNvSpPr/>
          <p:nvPr/>
        </p:nvSpPr>
        <p:spPr>
          <a:xfrm>
            <a:off x="9436617" y="3108202"/>
            <a:ext cx="588038" cy="910059"/>
          </a:xfrm>
          <a:prstGeom prst="flowChart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3079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D360E-0CB1-6116-A7F6-6E59EFA8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8EA24EE-19FF-6ECE-2E2D-1F06F839F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02071F-31E2-38F7-4282-6B1CE8F25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9187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Full graph</a:t>
            </a:r>
            <a:endParaRPr lang="es-ES" sz="480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9AB5935-730B-745D-F4F1-C0944D11C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C08551A-08E2-8ABB-E164-60C821F79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77EA4C-95E4-A71B-35F4-BA8AA7F994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" r="48602" b="-1224"/>
          <a:stretch>
            <a:fillRect/>
          </a:stretch>
        </p:blipFill>
        <p:spPr>
          <a:xfrm>
            <a:off x="6489525" y="817151"/>
            <a:ext cx="5050023" cy="523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69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738A5-F1F5-5960-A958-4C117285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FCD81BB-2ECC-C045-3ECE-02B4F61C3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BC4D0A0-ADED-66BB-55F9-D35CA168A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77CD19-DA95-63BC-125F-B1DC83732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810320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dirty="0"/>
              <a:t>Video 03- Euclidean </a:t>
            </a:r>
            <a:endParaRPr lang="es-E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71E9ADA-3E50-DBB3-5D0E-107EC6D9D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46688FEB-2403-0099-388C-AD69443286C1}"/>
              </a:ext>
            </a:extLst>
          </p:cNvPr>
          <p:cNvSpPr/>
          <p:nvPr/>
        </p:nvSpPr>
        <p:spPr>
          <a:xfrm>
            <a:off x="5359452" y="3654238"/>
            <a:ext cx="1036067" cy="490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FEB433-4C4F-BF47-E1E8-6D02479B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76" y="1512975"/>
            <a:ext cx="4361406" cy="45209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C98C2FC-89DC-D742-190D-A8B000617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781" y="1509321"/>
            <a:ext cx="4157208" cy="441346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5A7E235-4782-F7F7-E339-846AD83C61DF}"/>
              </a:ext>
            </a:extLst>
          </p:cNvPr>
          <p:cNvSpPr/>
          <p:nvPr/>
        </p:nvSpPr>
        <p:spPr>
          <a:xfrm>
            <a:off x="9478619" y="3234211"/>
            <a:ext cx="574037" cy="6720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5960F35-11C9-B8AD-00D9-D513F03C0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531" y="2671502"/>
            <a:ext cx="1212936" cy="2496202"/>
          </a:xfrm>
          <a:prstGeom prst="rect">
            <a:avLst/>
          </a:prstGeom>
        </p:spPr>
      </p:pic>
      <p:sp>
        <p:nvSpPr>
          <p:cNvPr id="12" name="Bocadillo: rectángulo 11">
            <a:extLst>
              <a:ext uri="{FF2B5EF4-FFF2-40B4-BE49-F238E27FC236}">
                <a16:creationId xmlns:a16="http://schemas.microsoft.com/office/drawing/2014/main" id="{62934E74-196D-FA78-09F8-3CE7B4B41BF6}"/>
              </a:ext>
            </a:extLst>
          </p:cNvPr>
          <p:cNvSpPr/>
          <p:nvPr/>
        </p:nvSpPr>
        <p:spPr>
          <a:xfrm rot="5400000">
            <a:off x="9803040" y="3331656"/>
            <a:ext cx="2540260" cy="1173731"/>
          </a:xfrm>
          <a:prstGeom prst="wedgeRectCallou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Subtítulo 9">
            <a:extLst>
              <a:ext uri="{FF2B5EF4-FFF2-40B4-BE49-F238E27FC236}">
                <a16:creationId xmlns:a16="http://schemas.microsoft.com/office/drawing/2014/main" id="{B27CCCB2-98CE-3C07-54CF-4CCD88C82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5866" y="5764478"/>
            <a:ext cx="7104888" cy="1399032"/>
          </a:xfrm>
        </p:spPr>
        <p:txBody>
          <a:bodyPr/>
          <a:lstStyle/>
          <a:p>
            <a:r>
              <a:rPr lang="es-ES" sz="1800" dirty="0"/>
              <a:t>The </a:t>
            </a:r>
            <a:r>
              <a:rPr lang="es-ES" sz="1800" b="1" dirty="0" err="1"/>
              <a:t>pedestrian</a:t>
            </a:r>
            <a:r>
              <a:rPr lang="es-ES" sz="1800" b="1" dirty="0"/>
              <a:t> has </a:t>
            </a:r>
            <a:r>
              <a:rPr lang="es-ES" sz="1800" b="1" dirty="0" err="1"/>
              <a:t>not</a:t>
            </a:r>
            <a:r>
              <a:rPr lang="es-ES" sz="1800" b="1" dirty="0"/>
              <a:t> </a:t>
            </a:r>
            <a:r>
              <a:rPr lang="es-ES" sz="1800" b="1" dirty="0" err="1"/>
              <a:t>been</a:t>
            </a:r>
            <a:r>
              <a:rPr lang="es-ES" sz="1800" b="1" dirty="0"/>
              <a:t> </a:t>
            </a:r>
            <a:r>
              <a:rPr lang="es-ES" sz="1800" b="1" dirty="0" err="1"/>
              <a:t>detected</a:t>
            </a:r>
            <a:endParaRPr lang="es-ES" sz="1800" b="1" i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897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F96B7-F802-9942-CF58-D9B4CD3A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2E71808-D16E-D5D1-CB07-BC9600D86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7B1701-C30E-B2E2-8F51-8A472317C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9187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Full graph</a:t>
            </a:r>
            <a:endParaRPr lang="es-ES" sz="480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85CA86F-A885-96DA-E8BD-FF280BFA5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5B7AE3D-23B5-27FA-CCF8-F5322EC22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0AF491-8B44-2757-A366-F6C0B1B984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68" r="49954" b="59"/>
          <a:stretch>
            <a:fillRect/>
          </a:stretch>
        </p:blipFill>
        <p:spPr>
          <a:xfrm>
            <a:off x="6406933" y="857840"/>
            <a:ext cx="5101357" cy="514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41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926EC-2D9B-7FCD-3566-03D71DDCB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659938D-A2E0-10F8-8817-9E43C5D12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F8BC309-48EF-9458-5CDC-478BC41C9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05C551-2EFB-9C92-1B9E-3F44398F4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660229"/>
            <a:ext cx="11166885" cy="61130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/>
              <a:t>Conclusions</a:t>
            </a:r>
            <a:endParaRPr lang="es-E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0454A91-2228-53AD-1FD2-819038696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27CC390D-FC5B-1603-4A4B-06460EE57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346" y="1416940"/>
            <a:ext cx="11010306" cy="493431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sz="1800" b="1" i="0">
                <a:latin typeface="Meiryo"/>
                <a:ea typeface="Meiryo"/>
              </a:rPr>
              <a:t>Key findings</a:t>
            </a:r>
            <a:endParaRPr lang="es-ES" b="1"/>
          </a:p>
          <a:p>
            <a:pPr marL="285750" indent="-285750">
              <a:buChar char="•"/>
            </a:pPr>
            <a:r>
              <a:rPr lang="es-ES" sz="1800" i="0">
                <a:latin typeface="Meiryo"/>
                <a:ea typeface="Meiryo"/>
                <a:cs typeface="+mn-lt"/>
              </a:rPr>
              <a:t>V-JEPA effectively identifies major motion state transitions automatically—such as accelerating from a stop or decelerating to a complete halt—without requiring fine-tuning.</a:t>
            </a:r>
            <a:endParaRPr lang="es-ES">
              <a:latin typeface="Meiryo"/>
              <a:ea typeface="Meiryo"/>
            </a:endParaRPr>
          </a:p>
          <a:p>
            <a:pPr marL="285750" indent="-285750">
              <a:buChar char="•"/>
            </a:pPr>
            <a:r>
              <a:rPr lang="es-ES" sz="1800" i="0">
                <a:latin typeface="Meiryo"/>
                <a:ea typeface="Meiryo"/>
                <a:cs typeface="+mn-lt"/>
              </a:rPr>
              <a:t>Because V-JEPA’s architecture prioritizes global context and high-level representation, it struggles with fine-grained visual details. For instance, detecting subtle object instances (e.g., specific passengers in a frame) or sudden localized events (e.g., an abrupt traffic light change to green) remains challenging out-of-the-box.</a:t>
            </a:r>
            <a:endParaRPr lang="es-ES">
              <a:latin typeface="Meiryo"/>
              <a:ea typeface="Meiryo"/>
            </a:endParaRPr>
          </a:p>
          <a:p>
            <a:r>
              <a:rPr lang="es-ES" sz="1800" b="1" i="0">
                <a:latin typeface="Meiryo"/>
                <a:ea typeface="Meiryo"/>
                <a:cs typeface="+mn-lt"/>
              </a:rPr>
              <a:t>Future directions</a:t>
            </a:r>
          </a:p>
          <a:p>
            <a:pPr marL="285750" indent="-285750">
              <a:buChar char="•"/>
            </a:pPr>
            <a:r>
              <a:rPr lang="es-ES" sz="1800" i="0">
                <a:latin typeface="Meiryo"/>
                <a:ea typeface="Meiryo"/>
                <a:cs typeface="+mn-lt"/>
              </a:rPr>
              <a:t>Leveraging V-JEPA’s strong contextual representations as a frozen or pre-trained backbone, a lightweight secondary model (head) can be trained on top to capture fine-grained semantics and localized scene features.</a:t>
            </a:r>
            <a:endParaRPr lang="es-ES">
              <a:latin typeface="Meiryo"/>
              <a:ea typeface="Meiryo"/>
            </a:endParaRPr>
          </a:p>
          <a:p>
            <a:pPr marL="285750" indent="-285750">
              <a:buChar char="•"/>
            </a:pPr>
            <a:r>
              <a:rPr lang="es-ES" sz="1800" i="0">
                <a:latin typeface="Meiryo"/>
                <a:ea typeface="Meiryo"/>
              </a:rPr>
              <a:t>As a bonus point, </a:t>
            </a:r>
            <a:r>
              <a:rPr lang="es-ES" sz="1800" i="0">
                <a:latin typeface="Meiryo"/>
                <a:ea typeface="Meiryo"/>
                <a:cs typeface="+mn-lt"/>
              </a:rPr>
              <a:t>Re-evaluating these benchmarks using larger V-JEPA parameter variants or updated V-JEPA releases may yield improved baseline sensitivity to fine-grained spatial and temporal details.</a:t>
            </a:r>
            <a:endParaRPr lang="es-ES" sz="1800" i="0"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190025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36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7" baseType="lpstr">
      <vt:lpstr>GestaltVTI</vt:lpstr>
      <vt:lpstr>V-JEPA</vt:lpstr>
      <vt:lpstr>Index</vt:lpstr>
      <vt:lpstr>V-JEPA  Overview</vt:lpstr>
      <vt:lpstr>Architecture</vt:lpstr>
      <vt:lpstr>Feature over pixels</vt:lpstr>
      <vt:lpstr>Network Parametrization &amp; Efficiency</vt:lpstr>
      <vt:lpstr>Performance</vt:lpstr>
      <vt:lpstr>Use cases &amp; applications</vt:lpstr>
      <vt:lpstr>So, the question is, does V-JEPA understand what happens in autonomous vehicles videos? </vt:lpstr>
      <vt:lpstr>Current hypothesis</vt:lpstr>
      <vt:lpstr>Presentación de PowerPoint</vt:lpstr>
      <vt:lpstr>Presentación de PowerPoint</vt:lpstr>
      <vt:lpstr>Situations to evaluate</vt:lpstr>
      <vt:lpstr>Evaluation dataset – PIE dataset</vt:lpstr>
      <vt:lpstr>Video 01- results</vt:lpstr>
      <vt:lpstr>Video 01- Cosine </vt:lpstr>
      <vt:lpstr>Presentación de PowerPoint</vt:lpstr>
      <vt:lpstr>Full graph</vt:lpstr>
      <vt:lpstr>Video 01- Euclidean </vt:lpstr>
      <vt:lpstr>Presentación de PowerPoint</vt:lpstr>
      <vt:lpstr>Full graph</vt:lpstr>
      <vt:lpstr>Video 02a- results</vt:lpstr>
      <vt:lpstr>Video 02a- Cosine </vt:lpstr>
      <vt:lpstr>Full graph</vt:lpstr>
      <vt:lpstr>Video 02a- Euclidean </vt:lpstr>
      <vt:lpstr>Full graph</vt:lpstr>
      <vt:lpstr>Video 02b- results </vt:lpstr>
      <vt:lpstr>Video 02b- Cosine </vt:lpstr>
      <vt:lpstr>Full graph</vt:lpstr>
      <vt:lpstr>Video 02b- Euclidean</vt:lpstr>
      <vt:lpstr>Video 03- results</vt:lpstr>
      <vt:lpstr>Video 03- Cosine </vt:lpstr>
      <vt:lpstr>Full graph</vt:lpstr>
      <vt:lpstr>Video 03- Euclidean </vt:lpstr>
      <vt:lpstr>Full graph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911</cp:revision>
  <dcterms:created xsi:type="dcterms:W3CDTF">2026-09-22T09:47:44Z</dcterms:created>
  <dcterms:modified xsi:type="dcterms:W3CDTF">2026-10-08T11:59:56Z</dcterms:modified>
</cp:coreProperties>
</file>